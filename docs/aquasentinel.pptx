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1" baseline="0" cap="none" i="0" spc="0" strike="noStrike" sz="3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"/>
        <a:ea typeface="Graphik"/>
        <a:cs typeface="Graphik"/>
        <a:sym typeface="Graphik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26440">
              <a:spcBef>
                <a:spcPts val="0"/>
              </a:spcBef>
              <a:buSzTx/>
              <a:buNone/>
              <a:defRPr b="0" sz="352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23558499" y="1246072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rved, white arches on a grey reflective floor"/>
          <p:cNvSpPr/>
          <p:nvPr>
            <p:ph type="pic" idx="21"/>
          </p:nvPr>
        </p:nvSpPr>
        <p:spPr>
          <a:xfrm>
            <a:off x="-76200" y="-558800"/>
            <a:ext cx="24574500" cy="148395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26440">
              <a:spcBef>
                <a:spcPts val="0"/>
              </a:spcBef>
              <a:buSzTx/>
              <a:buNone/>
              <a:defRPr b="0" sz="352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Low angle view of a tall building with mirrored glass windows"/>
          <p:cNvSpPr/>
          <p:nvPr>
            <p:ph type="pic" idx="21"/>
          </p:nvPr>
        </p:nvSpPr>
        <p:spPr>
          <a:xfrm>
            <a:off x="8140700" y="-1"/>
            <a:ext cx="205740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artial view of a ceiling with wood panelling"/>
          <p:cNvSpPr/>
          <p:nvPr>
            <p:ph type="pic" idx="21"/>
          </p:nvPr>
        </p:nvSpPr>
        <p:spPr>
          <a:xfrm>
            <a:off x="9588500" y="-482600"/>
            <a:ext cx="21513800" cy="1430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b="0" sz="5000">
                <a:latin typeface="Graphik Light"/>
                <a:ea typeface="Graphik Light"/>
                <a:cs typeface="Graphik Light"/>
                <a:sym typeface="Graphik Light"/>
              </a:defRPr>
            </a:lvl1pPr>
            <a:lvl2pPr marL="0" indent="457200">
              <a:spcBef>
                <a:spcPts val="6000"/>
              </a:spcBef>
              <a:buSzTx/>
              <a:buNone/>
              <a:defRPr b="0" sz="5000">
                <a:latin typeface="Graphik Light"/>
                <a:ea typeface="Graphik Light"/>
                <a:cs typeface="Graphik Light"/>
                <a:sym typeface="Graphik Light"/>
              </a:defRPr>
            </a:lvl2pPr>
            <a:lvl3pPr marL="0" indent="914400">
              <a:spcBef>
                <a:spcPts val="6000"/>
              </a:spcBef>
              <a:buSzTx/>
              <a:buNone/>
              <a:defRPr b="0" sz="5000">
                <a:latin typeface="Graphik Light"/>
                <a:ea typeface="Graphik Light"/>
                <a:cs typeface="Graphik Light"/>
                <a:sym typeface="Graphik Light"/>
              </a:defRPr>
            </a:lvl3pPr>
            <a:lvl4pPr marL="0" indent="1371600">
              <a:spcBef>
                <a:spcPts val="6000"/>
              </a:spcBef>
              <a:buSzTx/>
              <a:buNone/>
              <a:defRPr b="0" sz="5000">
                <a:latin typeface="Graphik Light"/>
                <a:ea typeface="Graphik Light"/>
                <a:cs typeface="Graphik Light"/>
                <a:sym typeface="Graphik Light"/>
              </a:defRPr>
            </a:lvl4pPr>
            <a:lvl5pPr marL="0" indent="1828800">
              <a:spcBef>
                <a:spcPts val="6000"/>
              </a:spcBef>
              <a:buSzTx/>
              <a:buNone/>
              <a:defRPr b="0" sz="5000">
                <a:latin typeface="Graphik Light"/>
                <a:ea typeface="Graphik Light"/>
                <a:cs typeface="Graphik Light"/>
                <a:sym typeface="Graphik Light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b="0"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0"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b="0"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orridor of an open-air stone building under a pink and purple sky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lack and white close-up of a curved roof"/>
          <p:cNvSpPr/>
          <p:nvPr>
            <p:ph type="pic" sz="half" idx="22"/>
          </p:nvPr>
        </p:nvSpPr>
        <p:spPr>
          <a:xfrm>
            <a:off x="6577500" y="3632200"/>
            <a:ext cx="11228999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 angle view of a metal spiral staircase"/>
          <p:cNvSpPr/>
          <p:nvPr>
            <p:ph type="pic" sz="quarter" idx="23"/>
          </p:nvPr>
        </p:nvSpPr>
        <p:spPr>
          <a:xfrm>
            <a:off x="146431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Futuristic, white corridor with shadows"/>
          <p:cNvSpPr/>
          <p:nvPr>
            <p:ph type="pic" idx="21"/>
          </p:nvPr>
        </p:nvSpPr>
        <p:spPr>
          <a:xfrm>
            <a:off x="-38100" y="-520700"/>
            <a:ext cx="24447500" cy="1476331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b="0" sz="20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3429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1pPr>
      <a:lvl2pPr marL="8001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2pPr>
      <a:lvl3pPr marL="12573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3pPr>
      <a:lvl4pPr marL="17145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4pPr>
      <a:lvl5pPr marL="21717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5pPr>
      <a:lvl6pPr marL="26289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6pPr>
      <a:lvl7pPr marL="30861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7pPr>
      <a:lvl8pPr marL="35433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8pPr>
      <a:lvl9pPr marL="4000500" marR="0" indent="-3429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1" baseline="0" cap="none" i="0" spc="0" strike="noStrike" sz="3000" u="none">
          <a:solidFill>
            <a:schemeClr val="accent1">
              <a:satOff val="-9155"/>
              <a:lumOff val="-32673"/>
            </a:schemeClr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ubmitted by : Pratham Deshmukh &amp; Aryan Sab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08990">
              <a:defRPr sz="3528"/>
            </a:lvl1pPr>
          </a:lstStyle>
          <a:p>
            <a:pPr/>
            <a:r>
              <a:t>Submitted by : Pratham Deshmukh &amp; Aryan Sable</a:t>
            </a:r>
          </a:p>
        </p:txBody>
      </p:sp>
      <p:sp>
        <p:nvSpPr>
          <p:cNvPr id="172" name="A Multi-Agent AI Platform for Smart Water Management"/>
          <p:cNvSpPr txBox="1"/>
          <p:nvPr>
            <p:ph type="subTitle" sz="quarter" idx="1"/>
          </p:nvPr>
        </p:nvSpPr>
        <p:spPr>
          <a:xfrm>
            <a:off x="1206500" y="6570433"/>
            <a:ext cx="21971000" cy="2006601"/>
          </a:xfrm>
          <a:prstGeom prst="rect">
            <a:avLst/>
          </a:prstGeom>
        </p:spPr>
        <p:txBody>
          <a:bodyPr/>
          <a:lstStyle/>
          <a:p>
            <a:pPr defTabSz="734694">
              <a:defRPr sz="6675"/>
            </a:pPr>
            <a:r>
              <a:t>A Multi-Agent AI Platform for Smart Water Management</a:t>
            </a:r>
          </a:p>
          <a:p>
            <a:pPr defTabSz="406908">
              <a:spcBef>
                <a:spcPts val="1000"/>
              </a:spcBef>
              <a:defRPr sz="1068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73" name="AquaSentinel AI"/>
          <p:cNvSpPr txBox="1"/>
          <p:nvPr>
            <p:ph type="ctrTitle"/>
          </p:nvPr>
        </p:nvSpPr>
        <p:spPr>
          <a:xfrm>
            <a:off x="1206498" y="1902409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AquaSentinel AI</a:t>
            </a:r>
          </a:p>
        </p:txBody>
      </p:sp>
    </p:spTree>
  </p:cSld>
  <p:clrMapOvr>
    <a:masterClrMapping/>
  </p:clrMapOvr>
  <p:transition xmlns:p14="http://schemas.microsoft.com/office/powerpoint/2010/main" spd="med" advClick="0" advTm="0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32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out)" transition="in">
                                      <p:cBhvr>
                                        <p:cTn id="19"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3" grpId="1"/>
      <p:bldP build="whole" bldLvl="1" animBg="1" rev="0" advAuto="0" spid="172" grpId="2"/>
      <p:bldP build="whole" bldLvl="1" animBg="1" rev="0" advAuto="0" spid="171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📝 Problem Statement"/>
          <p:cNvSpPr txBox="1"/>
          <p:nvPr>
            <p:ph type="title"/>
          </p:nvPr>
        </p:nvSpPr>
        <p:spPr>
          <a:xfrm>
            <a:off x="1206500" y="635355"/>
            <a:ext cx="21971000" cy="1689101"/>
          </a:xfrm>
          <a:prstGeom prst="rect">
            <a:avLst/>
          </a:prstGeom>
        </p:spPr>
        <p:txBody>
          <a:bodyPr/>
          <a:lstStyle/>
          <a:p>
            <a:pPr defTabSz="2145791">
              <a:defRPr spc="-70" sz="7040"/>
            </a:pPr>
            <a:r>
              <a:t>📝 Problem Statement </a:t>
            </a:r>
          </a:p>
          <a:p>
            <a:pPr defTabSz="402336">
              <a:lnSpc>
                <a:spcPct val="100000"/>
              </a:lnSpc>
              <a:spcBef>
                <a:spcPts val="1000"/>
              </a:spcBef>
              <a:defRPr spc="0" sz="1056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76" name="Challenges Faced by Citizens :…"/>
          <p:cNvSpPr txBox="1"/>
          <p:nvPr/>
        </p:nvSpPr>
        <p:spPr>
          <a:xfrm>
            <a:off x="1323359" y="3570483"/>
            <a:ext cx="21737282" cy="4699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700">
                <a:latin typeface="+mn-lt"/>
                <a:ea typeface="+mn-ea"/>
                <a:cs typeface="+mn-cs"/>
                <a:sym typeface="Produkt Extralight"/>
              </a:defRPr>
            </a:pPr>
            <a:r>
              <a:t>Challenges Faced by Citizens :</a:t>
            </a: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💧 Unsafe drinking water</a:t>
            </a: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🚰 Choosing the right purifier</a:t>
            </a: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🌱 Water wastage</a:t>
            </a: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📋 Complicated complaint registration</a:t>
            </a:r>
          </a:p>
          <a:p>
            <a:pPr defTabSz="457200">
              <a:spcBef>
                <a:spcPts val="1200"/>
              </a:spcBef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77" name="Line"/>
          <p:cNvSpPr/>
          <p:nvPr/>
        </p:nvSpPr>
        <p:spPr>
          <a:xfrm>
            <a:off x="-1" y="2151084"/>
            <a:ext cx="24384002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78" name="Why it matters…"/>
          <p:cNvSpPr txBox="1"/>
          <p:nvPr/>
        </p:nvSpPr>
        <p:spPr>
          <a:xfrm>
            <a:off x="14656741" y="3570483"/>
            <a:ext cx="8543864" cy="4356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700">
                <a:latin typeface="+mn-lt"/>
                <a:ea typeface="+mn-ea"/>
                <a:cs typeface="+mn-cs"/>
                <a:sym typeface="Produkt Extralight"/>
              </a:defRPr>
            </a:pPr>
            <a:r>
              <a:t>Why it matters</a:t>
            </a: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📌 Information is scattered across multiple platforms.</a:t>
            </a: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🚰 Complaint reporting is slow and inconvenient.</a:t>
            </a:r>
          </a:p>
          <a:p>
            <a:pPr defTabSz="457200">
              <a:spcBef>
                <a:spcPts val="1200"/>
              </a:spcBef>
              <a:defRPr b="0" sz="3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🤖 Lack of a single intelligent assistant.</a:t>
            </a:r>
          </a:p>
          <a:p>
            <a:pPr defTabSz="457200">
              <a:spcBef>
                <a:spcPts val="1200"/>
              </a:spcBef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179" name="🔵 Problem: Water-related information and services are fragmented, making it difficult for citizens to get timely guidance and report issues efficiently."/>
          <p:cNvSpPr txBox="1"/>
          <p:nvPr/>
        </p:nvSpPr>
        <p:spPr>
          <a:xfrm>
            <a:off x="383153" y="9484236"/>
            <a:ext cx="23694505" cy="1031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27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🔵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Problem</a:t>
            </a:r>
            <a:r>
              <a:t>:</a:t>
            </a:r>
            <a:r>
              <a:t> Water-related information and services are fragmented, making it difficult for citizens to get timely guidance and report issues efficiently.</a:t>
            </a:r>
          </a:p>
        </p:txBody>
      </p:sp>
      <p:grpSp>
        <p:nvGrpSpPr>
          <p:cNvPr id="182" name="Rectangle"/>
          <p:cNvGrpSpPr/>
          <p:nvPr/>
        </p:nvGrpSpPr>
        <p:grpSpPr>
          <a:xfrm>
            <a:off x="136457" y="9333281"/>
            <a:ext cx="23992398" cy="1012032"/>
            <a:chOff x="0" y="0"/>
            <a:chExt cx="23992397" cy="1012031"/>
          </a:xfrm>
        </p:grpSpPr>
        <p:sp>
          <p:nvSpPr>
            <p:cNvPr id="181" name="Rectangle"/>
            <p:cNvSpPr/>
            <p:nvPr/>
          </p:nvSpPr>
          <p:spPr>
            <a:xfrm>
              <a:off x="31750" y="31749"/>
              <a:ext cx="23928898" cy="94853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hueOff val="-357243"/>
                    <a:satOff val="7293"/>
                    <a:lumOff val="8906"/>
                    <a:alpha val="18301"/>
                  </a:schemeClr>
                </a:gs>
                <a:gs pos="100000">
                  <a:schemeClr val="accent2">
                    <a:hueOff val="-67868"/>
                    <a:satOff val="-8031"/>
                    <a:lumOff val="-23837"/>
                    <a:alpha val="18301"/>
                  </a:schemeClr>
                </a:gs>
              </a:gsLst>
              <a:lin ang="5400000" scaled="0"/>
            </a:gradFill>
            <a:ln>
              <a:noFill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spcBef>
                  <a:spcPts val="0"/>
                </a:spcBef>
                <a:defRPr sz="3200">
                  <a:solidFill>
                    <a:srgbClr val="FFFFFF"/>
                  </a:solidFill>
                </a:defRPr>
              </a:pPr>
            </a:p>
          </p:txBody>
        </p:sp>
        <p:pic>
          <p:nvPicPr>
            <p:cNvPr id="180" name="Rectangle Rectangle" descr="Rectangle Rectangle"/>
            <p:cNvPicPr>
              <a:picLocks noChangeAspect="0"/>
            </p:cNvPicPr>
            <p:nvPr/>
          </p:nvPicPr>
          <p:blipFill>
            <a:blip r:embed="rId2">
              <a:alphaModFix amt="18301"/>
              <a:extLst/>
            </a:blip>
            <a:stretch>
              <a:fillRect/>
            </a:stretch>
          </p:blipFill>
          <p:spPr>
            <a:xfrm>
              <a:off x="0" y="0"/>
              <a:ext cx="23992398" cy="1012032"/>
            </a:xfrm>
            <a:prstGeom prst="rect">
              <a:avLst/>
            </a:prstGeom>
            <a:effectLst/>
          </p:spPr>
        </p:pic>
      </p:grpSp>
      <p:sp>
        <p:nvSpPr>
          <p:cNvPr id="183" name="🌍 WHO: Billions of people still lack access to safely managed drinking water."/>
          <p:cNvSpPr txBox="1"/>
          <p:nvPr/>
        </p:nvSpPr>
        <p:spPr>
          <a:xfrm>
            <a:off x="2933966" y="12437203"/>
            <a:ext cx="18592877" cy="102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200">
                <a:latin typeface="Graphik Light"/>
                <a:ea typeface="Graphik Light"/>
                <a:cs typeface="Graphik Light"/>
                <a:sym typeface="Graphik Light"/>
              </a:defRPr>
            </a:pPr>
            <a:r>
              <a:t>🌍 </a:t>
            </a:r>
            <a:r>
              <a:rPr b="1">
                <a:latin typeface="Graphik"/>
                <a:ea typeface="Graphik"/>
                <a:cs typeface="Graphik"/>
                <a:sym typeface="Graphik"/>
              </a:rPr>
              <a:t>WHO:</a:t>
            </a:r>
            <a:r>
              <a:t> Billions of people still lack access to safely managed drinking water.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An Intelligent Multi-Agent AI System for Smart Water Assistance"/>
          <p:cNvSpPr txBox="1"/>
          <p:nvPr>
            <p:ph type="body" idx="21"/>
          </p:nvPr>
        </p:nvSpPr>
        <p:spPr>
          <a:xfrm>
            <a:off x="1206500" y="1754347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330200">
              <a:defRPr sz="4400"/>
            </a:lvl1pPr>
          </a:lstStyle>
          <a:p>
            <a:pPr/>
            <a:r>
              <a:t>An Intelligent Multi-Agent AI System for Smart Water Assistance</a:t>
            </a:r>
          </a:p>
        </p:txBody>
      </p:sp>
      <p:sp>
        <p:nvSpPr>
          <p:cNvPr id="186" name="💡 Introducing AquaSentinel AI"/>
          <p:cNvSpPr txBox="1"/>
          <p:nvPr>
            <p:ph type="title"/>
          </p:nvPr>
        </p:nvSpPr>
        <p:spPr>
          <a:xfrm>
            <a:off x="938121" y="187701"/>
            <a:ext cx="21971001" cy="1689101"/>
          </a:xfrm>
          <a:prstGeom prst="rect">
            <a:avLst/>
          </a:prstGeom>
        </p:spPr>
        <p:txBody>
          <a:bodyPr/>
          <a:lstStyle>
            <a:lvl1pPr>
              <a:defRPr spc="-79" sz="8000"/>
            </a:lvl1pPr>
          </a:lstStyle>
          <a:p>
            <a:pPr/>
            <a:r>
              <a:t>💡 Introducing AquaSentinel AI</a:t>
            </a:r>
          </a:p>
        </p:txBody>
      </p:sp>
      <p:sp>
        <p:nvSpPr>
          <p:cNvPr id="187" name="Line"/>
          <p:cNvSpPr/>
          <p:nvPr/>
        </p:nvSpPr>
        <p:spPr>
          <a:xfrm>
            <a:off x="-1" y="2822575"/>
            <a:ext cx="24384002" cy="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88" name="What is AquaSentinel AI ?…"/>
          <p:cNvSpPr txBox="1"/>
          <p:nvPr/>
        </p:nvSpPr>
        <p:spPr>
          <a:xfrm>
            <a:off x="225630" y="4973870"/>
            <a:ext cx="11971757" cy="4813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1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What is AquaSentinel AI ?</a:t>
            </a:r>
          </a:p>
          <a:p>
            <a:pPr defTabSz="457200">
              <a:spcBef>
                <a:spcPts val="1200"/>
              </a:spcBef>
              <a:defRPr b="0" sz="34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spcBef>
                <a:spcPts val="1200"/>
              </a:spcBef>
              <a:defRPr b="0"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AquaSentinel AI is a multi-agent AI platform that helps citizens by providing reliable water-related guidance through specialized AI advisors. It understands the user's request, routes it to the appropriate expert, and automates complaint registration when required.</a:t>
            </a:r>
          </a:p>
        </p:txBody>
      </p:sp>
      <p:sp>
        <p:nvSpPr>
          <p:cNvPr id="189" name="📋 Complaint Registration…"/>
          <p:cNvSpPr txBox="1"/>
          <p:nvPr/>
        </p:nvSpPr>
        <p:spPr>
          <a:xfrm>
            <a:off x="18998303" y="9666631"/>
            <a:ext cx="5434522" cy="29405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825500">
              <a:spcBef>
                <a:spcPts val="0"/>
              </a:spcBef>
              <a:defRPr b="0" sz="35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📋 Complaint Registration</a:t>
            </a:r>
          </a:p>
          <a:p>
            <a:pPr marL="933450" indent="-793750" defTabSz="457200">
              <a:spcBef>
                <a:spcPts val="0"/>
              </a:spcBef>
              <a:buSzPct val="100000"/>
              <a:buFont typeface="Times Roman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000"/>
              <a:t>Automated complaint filing</a:t>
            </a:r>
            <a:endParaRPr sz="3000"/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Google Sheets logging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Email confirmation</a:t>
            </a:r>
          </a:p>
        </p:txBody>
      </p:sp>
      <p:sp>
        <p:nvSpPr>
          <p:cNvPr id="190" name="🛡️ Water Safety…"/>
          <p:cNvSpPr txBox="1"/>
          <p:nvPr/>
        </p:nvSpPr>
        <p:spPr>
          <a:xfrm>
            <a:off x="14112422" y="3681890"/>
            <a:ext cx="4358991" cy="1645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35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🛡️ Water Safety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Quality analysis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Drinking water guidance</a:t>
            </a:r>
          </a:p>
        </p:txBody>
      </p:sp>
      <p:sp>
        <p:nvSpPr>
          <p:cNvPr id="191" name="🌱 Water Conservation…"/>
          <p:cNvSpPr txBox="1"/>
          <p:nvPr/>
        </p:nvSpPr>
        <p:spPr>
          <a:xfrm>
            <a:off x="13909809" y="7940205"/>
            <a:ext cx="4764216" cy="164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35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🌱 Water Conservation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Water-saving tips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Sustainable practices</a:t>
            </a:r>
          </a:p>
        </p:txBody>
      </p:sp>
      <p:sp>
        <p:nvSpPr>
          <p:cNvPr id="192" name="💧 Purification Advisor…"/>
          <p:cNvSpPr txBox="1"/>
          <p:nvPr/>
        </p:nvSpPr>
        <p:spPr>
          <a:xfrm>
            <a:off x="19170882" y="6035436"/>
            <a:ext cx="5089365" cy="1645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35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💧 Purification Advisor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RO, UV &amp; UF guidance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TDS-based recommendations</a:t>
            </a:r>
          </a:p>
        </p:txBody>
      </p:sp>
      <p:sp>
        <p:nvSpPr>
          <p:cNvPr id="193" name="Terminator"/>
          <p:cNvSpPr/>
          <p:nvPr/>
        </p:nvSpPr>
        <p:spPr>
          <a:xfrm>
            <a:off x="13741400" y="3168944"/>
            <a:ext cx="5342037" cy="26710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2">
              <a:satOff val="-7988"/>
              <a:lumOff val="-11547"/>
              <a:alpha val="1529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194" name="Terminator"/>
          <p:cNvSpPr/>
          <p:nvPr/>
        </p:nvSpPr>
        <p:spPr>
          <a:xfrm>
            <a:off x="13741400" y="7427259"/>
            <a:ext cx="5342037" cy="2671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2">
              <a:satOff val="-7988"/>
              <a:lumOff val="-11547"/>
              <a:alpha val="1529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195" name="Terminator"/>
          <p:cNvSpPr/>
          <p:nvPr/>
        </p:nvSpPr>
        <p:spPr>
          <a:xfrm>
            <a:off x="18567204" y="9562714"/>
            <a:ext cx="6296721" cy="31483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2">
              <a:satOff val="-7988"/>
              <a:lumOff val="-11547"/>
              <a:alpha val="1529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196" name="Terminator"/>
          <p:cNvSpPr/>
          <p:nvPr/>
        </p:nvSpPr>
        <p:spPr>
          <a:xfrm>
            <a:off x="19044546" y="5522490"/>
            <a:ext cx="5342037" cy="2671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2">
              <a:satOff val="-7988"/>
              <a:lumOff val="-11547"/>
              <a:alpha val="1529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197" name="Line"/>
          <p:cNvSpPr/>
          <p:nvPr/>
        </p:nvSpPr>
        <p:spPr>
          <a:xfrm>
            <a:off x="19045381" y="4354181"/>
            <a:ext cx="2248612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8" name="Line"/>
          <p:cNvSpPr/>
          <p:nvPr/>
        </p:nvSpPr>
        <p:spPr>
          <a:xfrm>
            <a:off x="21277019" y="4341480"/>
            <a:ext cx="1" cy="120641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99" name="Line"/>
          <p:cNvSpPr/>
          <p:nvPr/>
        </p:nvSpPr>
        <p:spPr>
          <a:xfrm>
            <a:off x="16037931" y="6633611"/>
            <a:ext cx="2995108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0" name="Line"/>
          <p:cNvSpPr/>
          <p:nvPr/>
        </p:nvSpPr>
        <p:spPr>
          <a:xfrm>
            <a:off x="16055899" y="6620911"/>
            <a:ext cx="1" cy="83175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1" name="Line"/>
          <p:cNvSpPr/>
          <p:nvPr/>
        </p:nvSpPr>
        <p:spPr>
          <a:xfrm>
            <a:off x="19056539" y="8762769"/>
            <a:ext cx="2682899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2" name="Line"/>
          <p:cNvSpPr/>
          <p:nvPr/>
        </p:nvSpPr>
        <p:spPr>
          <a:xfrm>
            <a:off x="21715564" y="8805176"/>
            <a:ext cx="1" cy="831749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03" name="🧠 AquaSentinel AI brings water safety, purification guidance, conservation advice, and…"/>
          <p:cNvSpPr txBox="1"/>
          <p:nvPr/>
        </p:nvSpPr>
        <p:spPr>
          <a:xfrm>
            <a:off x="91687" y="12198521"/>
            <a:ext cx="21388833" cy="14541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🧠 AquaSentinel AI brings water safety, purification guidance, conservation advice, and </a:t>
            </a:r>
          </a:p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complaint registration together in one intelligent platform.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How AquaSentinel AI Processes User Requests"/>
          <p:cNvSpPr txBox="1"/>
          <p:nvPr>
            <p:ph type="body" idx="21"/>
          </p:nvPr>
        </p:nvSpPr>
        <p:spPr>
          <a:xfrm>
            <a:off x="1206500" y="1712588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How AquaSentinel AI Processes User Requests</a:t>
            </a:r>
          </a:p>
        </p:txBody>
      </p:sp>
      <p:sp>
        <p:nvSpPr>
          <p:cNvPr id="206" name="🏗️ System Architecture"/>
          <p:cNvSpPr txBox="1"/>
          <p:nvPr>
            <p:ph type="title"/>
          </p:nvPr>
        </p:nvSpPr>
        <p:spPr>
          <a:xfrm>
            <a:off x="1206500" y="51284"/>
            <a:ext cx="21971000" cy="1689101"/>
          </a:xfrm>
          <a:prstGeom prst="rect">
            <a:avLst/>
          </a:prstGeom>
        </p:spPr>
        <p:txBody>
          <a:bodyPr/>
          <a:lstStyle>
            <a:lvl1pPr defTabSz="355600">
              <a:defRPr spc="-90" sz="9000"/>
            </a:lvl1pPr>
          </a:lstStyle>
          <a:p>
            <a:pPr/>
            <a:r>
              <a:t>🏗️ System Architecture</a:t>
            </a:r>
          </a:p>
        </p:txBody>
      </p:sp>
      <p:sp>
        <p:nvSpPr>
          <p:cNvPr id="207" name="Line"/>
          <p:cNvSpPr/>
          <p:nvPr/>
        </p:nvSpPr>
        <p:spPr>
          <a:xfrm>
            <a:off x="-1" y="2822575"/>
            <a:ext cx="24384002" cy="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08" name="AquaSentinel AI.png" descr="AquaSentinel AI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5312" y="3904765"/>
            <a:ext cx="13590049" cy="7644401"/>
          </a:xfrm>
          <a:prstGeom prst="rect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</p:pic>
      <p:sp>
        <p:nvSpPr>
          <p:cNvPr id="209" name="👤 User Interaction…"/>
          <p:cNvSpPr txBox="1"/>
          <p:nvPr/>
        </p:nvSpPr>
        <p:spPr>
          <a:xfrm>
            <a:off x="15556073" y="3886350"/>
            <a:ext cx="8167875" cy="3148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Regular"/>
                <a:ea typeface="Produkt Regular"/>
                <a:cs typeface="Produkt Regular"/>
                <a:sym typeface="Produkt Regular"/>
              </a:defRPr>
            </a:pPr>
            <a:r>
              <a:t>👤 User Interaction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User enters a water-related query.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AI Manager identifies the user's intent.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request is routed to the appropriate specialist.</a:t>
            </a:r>
          </a:p>
        </p:txBody>
      </p:sp>
      <p:sp>
        <p:nvSpPr>
          <p:cNvPr id="210" name="🤖 Response Generation…"/>
          <p:cNvSpPr txBox="1"/>
          <p:nvPr/>
        </p:nvSpPr>
        <p:spPr>
          <a:xfrm>
            <a:off x="15624441" y="7167954"/>
            <a:ext cx="8031139" cy="4088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Regular"/>
                <a:ea typeface="Produkt Regular"/>
                <a:cs typeface="Produkt Regular"/>
                <a:sym typeface="Produkt Regular"/>
              </a:defRPr>
            </a:pPr>
            <a:r>
              <a:t>🤖 Response Generation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Specialist AI provides domain-specific guidance.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Complaint requests are sent to the </a:t>
            </a:r>
          </a:p>
          <a:p>
            <a:pPr defTabSz="457200">
              <a:spcBef>
                <a:spcPts val="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 Complaint Registration module.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Complaint data is stored in Google Sheets and a</a:t>
            </a:r>
          </a:p>
          <a:p>
            <a:pPr defTabSz="457200">
              <a:spcBef>
                <a:spcPts val="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   confirmation email is sent.</a:t>
            </a:r>
          </a:p>
        </p:txBody>
      </p:sp>
      <p:sp>
        <p:nvSpPr>
          <p:cNvPr id="211" name="AI Manager intelligently routes every query to the right specialist, making responses more accurate and efficient."/>
          <p:cNvSpPr txBox="1"/>
          <p:nvPr/>
        </p:nvSpPr>
        <p:spPr>
          <a:xfrm>
            <a:off x="320040" y="12665450"/>
            <a:ext cx="23861269" cy="668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i="1" sz="3500">
                <a:latin typeface="Produkt Medium"/>
                <a:ea typeface="Produkt Medium"/>
                <a:cs typeface="Produkt Medium"/>
                <a:sym typeface="Produkt Medium"/>
              </a:defRPr>
            </a:lvl1pPr>
          </a:lstStyle>
          <a:p>
            <a:pPr/>
            <a:r>
              <a:t>AI Manager intelligently routes every query to the right specialist, making responses more accurate and efficient.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How AquaSentinel AI Handles a User Query"/>
          <p:cNvSpPr txBox="1"/>
          <p:nvPr>
            <p:ph type="body" idx="21"/>
          </p:nvPr>
        </p:nvSpPr>
        <p:spPr>
          <a:xfrm>
            <a:off x="1206500" y="1817475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341120">
              <a:lnSpc>
                <a:spcPct val="90000"/>
              </a:lnSpc>
              <a:defRPr spc="-55"/>
            </a:lvl1pPr>
          </a:lstStyle>
          <a:p>
            <a:pPr/>
            <a:r>
              <a:t>How AquaSentinel AI Handles a User Query</a:t>
            </a:r>
          </a:p>
        </p:txBody>
      </p:sp>
      <p:sp>
        <p:nvSpPr>
          <p:cNvPr id="214" name="⚙️ Project Workflow"/>
          <p:cNvSpPr txBox="1"/>
          <p:nvPr>
            <p:ph type="title"/>
          </p:nvPr>
        </p:nvSpPr>
        <p:spPr>
          <a:xfrm>
            <a:off x="1206500" y="255031"/>
            <a:ext cx="21971000" cy="1689101"/>
          </a:xfrm>
          <a:prstGeom prst="rect">
            <a:avLst/>
          </a:prstGeom>
        </p:spPr>
        <p:txBody>
          <a:bodyPr/>
          <a:lstStyle/>
          <a:p>
            <a:pPr defTabSz="224027">
              <a:defRPr spc="-75" sz="7560"/>
            </a:pPr>
            <a:r>
              <a:t>⚙️ </a:t>
            </a:r>
            <a:r>
              <a:t>Project Workflow</a:t>
            </a:r>
          </a:p>
          <a:p>
            <a:pPr defTabSz="288036">
              <a:lnSpc>
                <a:spcPct val="100000"/>
              </a:lnSpc>
              <a:spcBef>
                <a:spcPts val="800"/>
              </a:spcBef>
              <a:defRPr b="1" spc="0" sz="882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15" name="Line"/>
          <p:cNvSpPr/>
          <p:nvPr/>
        </p:nvSpPr>
        <p:spPr>
          <a:xfrm>
            <a:off x="-1" y="2822575"/>
            <a:ext cx="24384002" cy="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16" name=".…"/>
          <p:cNvSpPr txBox="1"/>
          <p:nvPr/>
        </p:nvSpPr>
        <p:spPr>
          <a:xfrm>
            <a:off x="3137685" y="2721100"/>
            <a:ext cx="2482952" cy="1987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spcBef>
                <a:spcPts val="1200"/>
              </a:spcBef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.</a:t>
            </a:r>
          </a:p>
          <a:p>
            <a:pPr defTabSz="457200">
              <a:spcBef>
                <a:spcPts val="0"/>
              </a:spcBef>
              <a:defRPr b="0" sz="13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👤 User</a:t>
            </a:r>
          </a:p>
        </p:txBody>
      </p:sp>
      <p:sp>
        <p:nvSpPr>
          <p:cNvPr id="217" name="💬 User Query"/>
          <p:cNvSpPr txBox="1"/>
          <p:nvPr/>
        </p:nvSpPr>
        <p:spPr>
          <a:xfrm>
            <a:off x="2667709" y="4633531"/>
            <a:ext cx="3422905" cy="79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💬 User Query</a:t>
            </a:r>
          </a:p>
        </p:txBody>
      </p:sp>
      <p:sp>
        <p:nvSpPr>
          <p:cNvPr id="218" name="🧠 AI Manager…"/>
          <p:cNvSpPr txBox="1"/>
          <p:nvPr/>
        </p:nvSpPr>
        <p:spPr>
          <a:xfrm>
            <a:off x="2232686" y="6250993"/>
            <a:ext cx="4661358" cy="1735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🧠 AI Manager</a:t>
            </a:r>
          </a:p>
          <a:p>
            <a:pPr defTabSz="825500">
              <a:spcBef>
                <a:spcPts val="0"/>
              </a:spcBef>
              <a:defRPr b="0" sz="2800">
                <a:latin typeface="+mn-lt"/>
                <a:ea typeface="+mn-ea"/>
                <a:cs typeface="+mn-cs"/>
                <a:sym typeface="Produkt Extralight"/>
              </a:defRPr>
            </a:pPr>
            <a:r>
              <a:t>(Intent Detection &amp; Routing)</a:t>
            </a:r>
          </a:p>
        </p:txBody>
      </p:sp>
      <p:sp>
        <p:nvSpPr>
          <p:cNvPr id="219" name="📄 Personalized Response"/>
          <p:cNvSpPr txBox="1"/>
          <p:nvPr/>
        </p:nvSpPr>
        <p:spPr>
          <a:xfrm>
            <a:off x="1559252" y="9528409"/>
            <a:ext cx="6153405" cy="79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📄 Personalized Response</a:t>
            </a:r>
          </a:p>
        </p:txBody>
      </p:sp>
      <p:sp>
        <p:nvSpPr>
          <p:cNvPr id="220" name="📧 Email + Google Sheets…"/>
          <p:cNvSpPr txBox="1"/>
          <p:nvPr/>
        </p:nvSpPr>
        <p:spPr>
          <a:xfrm>
            <a:off x="1388564" y="11232081"/>
            <a:ext cx="5981193" cy="1265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📧 Email + Google Sheets</a:t>
            </a:r>
          </a:p>
          <a:p>
            <a:pPr defTabSz="825500">
              <a:spcBef>
                <a:spcPts val="0"/>
              </a:spcBef>
              <a:defRPr b="0" sz="2800">
                <a:latin typeface="+mn-lt"/>
                <a:ea typeface="+mn-ea"/>
                <a:cs typeface="+mn-cs"/>
                <a:sym typeface="Produkt Extralight"/>
              </a:defRPr>
            </a:pPr>
            <a:r>
              <a:t>    (Only if Complaint is Submitted)</a:t>
            </a:r>
          </a:p>
        </p:txBody>
      </p:sp>
      <p:sp>
        <p:nvSpPr>
          <p:cNvPr id="221" name="🤖 Specialized AI Agent"/>
          <p:cNvSpPr txBox="1"/>
          <p:nvPr/>
        </p:nvSpPr>
        <p:spPr>
          <a:xfrm>
            <a:off x="1562555" y="8033788"/>
            <a:ext cx="5633213" cy="79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🤖 </a:t>
            </a:r>
            <a:r>
              <a:t>Specialized AI Agent</a:t>
            </a:r>
          </a:p>
        </p:txBody>
      </p:sp>
      <p:sp>
        <p:nvSpPr>
          <p:cNvPr id="222" name="Line"/>
          <p:cNvSpPr/>
          <p:nvPr/>
        </p:nvSpPr>
        <p:spPr>
          <a:xfrm>
            <a:off x="4379161" y="3914900"/>
            <a:ext cx="1" cy="793752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3" name="Line"/>
          <p:cNvSpPr/>
          <p:nvPr/>
        </p:nvSpPr>
        <p:spPr>
          <a:xfrm>
            <a:off x="4379160" y="5409522"/>
            <a:ext cx="1" cy="80991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4" name="Line"/>
          <p:cNvSpPr/>
          <p:nvPr/>
        </p:nvSpPr>
        <p:spPr>
          <a:xfrm>
            <a:off x="4379161" y="7468965"/>
            <a:ext cx="1" cy="79375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5" name="Line"/>
          <p:cNvSpPr/>
          <p:nvPr/>
        </p:nvSpPr>
        <p:spPr>
          <a:xfrm>
            <a:off x="4379160" y="8808178"/>
            <a:ext cx="1" cy="726653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6" name="Line"/>
          <p:cNvSpPr/>
          <p:nvPr/>
        </p:nvSpPr>
        <p:spPr>
          <a:xfrm>
            <a:off x="4379161" y="10356940"/>
            <a:ext cx="1" cy="79375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27" name="Real-world Example →"/>
          <p:cNvSpPr txBox="1"/>
          <p:nvPr/>
        </p:nvSpPr>
        <p:spPr>
          <a:xfrm>
            <a:off x="8253131" y="5041711"/>
            <a:ext cx="5419230" cy="872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3700">
                <a:gradFill flip="none" rotWithShape="1">
                  <a:gsLst>
                    <a:gs pos="0">
                      <a:schemeClr val="accent2">
                        <a:satOff val="-7997"/>
                        <a:lumOff val="-23777"/>
                      </a:schemeClr>
                    </a:gs>
                    <a:gs pos="100000">
                      <a:schemeClr val="accent2">
                        <a:hueOff val="-357243"/>
                        <a:satOff val="7293"/>
                        <a:lumOff val="8906"/>
                      </a:schemeClr>
                    </a:gs>
                  </a:gsLst>
                  <a:lin ang="5400000" scaled="0"/>
                </a:gradFill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Real-world Example </a:t>
            </a:r>
            <a:r>
              <a:rPr sz="5500"/>
              <a:t>→</a:t>
            </a:r>
          </a:p>
        </p:txBody>
      </p:sp>
      <p:sp>
        <p:nvSpPr>
          <p:cNvPr id="228" name="User Query: &quot;My tap water is brown. I want to report it.&quot;"/>
          <p:cNvSpPr txBox="1"/>
          <p:nvPr/>
        </p:nvSpPr>
        <p:spPr>
          <a:xfrm>
            <a:off x="13545039" y="2958002"/>
            <a:ext cx="10363201" cy="60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User Query: "My tap water is brown. I want to report it."</a:t>
            </a:r>
          </a:p>
        </p:txBody>
      </p:sp>
      <p:sp>
        <p:nvSpPr>
          <p:cNvPr id="229" name="AI Manager identifies:…"/>
          <p:cNvSpPr txBox="1"/>
          <p:nvPr/>
        </p:nvSpPr>
        <p:spPr>
          <a:xfrm>
            <a:off x="17485371" y="4440538"/>
            <a:ext cx="4277869" cy="147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AI Manager identifies: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Water Safety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Complaint Registration</a:t>
            </a:r>
          </a:p>
        </p:txBody>
      </p:sp>
      <p:sp>
        <p:nvSpPr>
          <p:cNvPr id="230" name="Water Safety Advisor provides safety recommendations."/>
          <p:cNvSpPr txBox="1"/>
          <p:nvPr/>
        </p:nvSpPr>
        <p:spPr>
          <a:xfrm>
            <a:off x="13600593" y="6539903"/>
            <a:ext cx="10702291" cy="60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Water Safety Advisor provides safety recommendations.</a:t>
            </a:r>
          </a:p>
        </p:txBody>
      </p:sp>
      <p:sp>
        <p:nvSpPr>
          <p:cNvPr id="231" name="Complaint Registration Advisor opens the complaint form."/>
          <p:cNvSpPr txBox="1"/>
          <p:nvPr/>
        </p:nvSpPr>
        <p:spPr>
          <a:xfrm>
            <a:off x="13225380" y="8105668"/>
            <a:ext cx="11002519" cy="60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Complaint Registration Advisor opens the complaint form.</a:t>
            </a:r>
          </a:p>
        </p:txBody>
      </p:sp>
      <p:sp>
        <p:nvSpPr>
          <p:cNvPr id="232" name="Complaint is stored in Google Sheets."/>
          <p:cNvSpPr txBox="1"/>
          <p:nvPr/>
        </p:nvSpPr>
        <p:spPr>
          <a:xfrm>
            <a:off x="16209300" y="9455200"/>
            <a:ext cx="7101079" cy="60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Complaint is stored in Google Sheets.</a:t>
            </a:r>
          </a:p>
        </p:txBody>
      </p:sp>
      <p:sp>
        <p:nvSpPr>
          <p:cNvPr id="233" name="Confirmation email is sent."/>
          <p:cNvSpPr txBox="1"/>
          <p:nvPr/>
        </p:nvSpPr>
        <p:spPr>
          <a:xfrm>
            <a:off x="17085499" y="10903388"/>
            <a:ext cx="5137024" cy="605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Confirmation email is sent.</a:t>
            </a:r>
          </a:p>
        </p:txBody>
      </p:sp>
      <p:sp>
        <p:nvSpPr>
          <p:cNvPr id="234" name="Line"/>
          <p:cNvSpPr/>
          <p:nvPr/>
        </p:nvSpPr>
        <p:spPr>
          <a:xfrm>
            <a:off x="19299008" y="3701018"/>
            <a:ext cx="1" cy="79375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5" name="Line"/>
          <p:cNvSpPr/>
          <p:nvPr/>
        </p:nvSpPr>
        <p:spPr>
          <a:xfrm>
            <a:off x="19299008" y="5862547"/>
            <a:ext cx="1" cy="79375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6" name="Line"/>
          <p:cNvSpPr/>
          <p:nvPr/>
        </p:nvSpPr>
        <p:spPr>
          <a:xfrm>
            <a:off x="19299008" y="7297056"/>
            <a:ext cx="1" cy="79375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7" name="Line"/>
          <p:cNvSpPr/>
          <p:nvPr/>
        </p:nvSpPr>
        <p:spPr>
          <a:xfrm>
            <a:off x="19299008" y="8636196"/>
            <a:ext cx="1" cy="79375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8" name="Line"/>
          <p:cNvSpPr/>
          <p:nvPr/>
        </p:nvSpPr>
        <p:spPr>
          <a:xfrm>
            <a:off x="19299008" y="10149565"/>
            <a:ext cx="1" cy="79375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9" name="🧠 By combining multiple AI specialists into one workflow, AquaSentinel AI makes…"/>
          <p:cNvSpPr txBox="1"/>
          <p:nvPr/>
        </p:nvSpPr>
        <p:spPr>
          <a:xfrm>
            <a:off x="8504980" y="12370499"/>
            <a:ext cx="15848484" cy="1193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3200">
                <a:latin typeface="Produkt Regular"/>
                <a:ea typeface="Produkt Regular"/>
                <a:cs typeface="Produkt Regular"/>
                <a:sym typeface="Produkt Regular"/>
              </a:defRPr>
            </a:pPr>
            <a:r>
              <a:t>🧠 By combining multiple AI specialists into one workflow, AquaSentinel AI makes </a:t>
            </a:r>
          </a:p>
          <a:p>
            <a:pPr defTabSz="825500">
              <a:spcBef>
                <a:spcPts val="0"/>
              </a:spcBef>
              <a:defRPr b="0" sz="3200">
                <a:latin typeface="Produkt Regular"/>
                <a:ea typeface="Produkt Regular"/>
                <a:cs typeface="Produkt Regular"/>
                <a:sym typeface="Produkt Regular"/>
              </a:defRPr>
            </a:pPr>
            <a:r>
              <a:t>water-related assistance simple, accessible, and efficient for everyone.</a:t>
            </a:r>
          </a:p>
        </p:txBody>
      </p:sp>
      <p:sp>
        <p:nvSpPr>
          <p:cNvPr id="240" name="Rounded Rectangle"/>
          <p:cNvSpPr/>
          <p:nvPr/>
        </p:nvSpPr>
        <p:spPr>
          <a:xfrm>
            <a:off x="693762" y="3106478"/>
            <a:ext cx="7348080" cy="9963154"/>
          </a:xfrm>
          <a:prstGeom prst="roundRect">
            <a:avLst>
              <a:gd name="adj" fmla="val 15000"/>
            </a:avLst>
          </a:prstGeom>
          <a:gradFill>
            <a:gsLst>
              <a:gs pos="0">
                <a:schemeClr val="accent6">
                  <a:hueOff val="-107064"/>
                  <a:satOff val="-5619"/>
                  <a:lumOff val="-33440"/>
                  <a:alpha val="16164"/>
                </a:schemeClr>
              </a:gs>
              <a:gs pos="100000">
                <a:schemeClr val="accent5">
                  <a:satOff val="17500"/>
                  <a:lumOff val="10202"/>
                  <a:alpha val="16164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8" grpId="1"/>
      <p:bldP build="whole" bldLvl="1" animBg="1" rev="0" advAuto="0" spid="233" grpId="6"/>
      <p:bldP build="whole" bldLvl="1" animBg="1" rev="0" advAuto="0" spid="230" grpId="3"/>
      <p:bldP build="whole" bldLvl="1" animBg="1" rev="0" advAuto="0" spid="231" grpId="4"/>
      <p:bldP build="whole" bldLvl="1" animBg="1" rev="0" advAuto="0" spid="229" grpId="2"/>
      <p:bldP build="whole" bldLvl="1" animBg="1" rev="0" advAuto="0" spid="232" grpId="5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chnologies used to build AquaSentinel AI"/>
          <p:cNvSpPr txBox="1"/>
          <p:nvPr>
            <p:ph type="body" idx="21"/>
          </p:nvPr>
        </p:nvSpPr>
        <p:spPr>
          <a:xfrm>
            <a:off x="1206500" y="2031470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60">
              <a:lnSpc>
                <a:spcPct val="90000"/>
              </a:lnSpc>
              <a:defRPr spc="-39" sz="4000"/>
            </a:lvl1pPr>
          </a:lstStyle>
          <a:p>
            <a:pPr/>
            <a:r>
              <a:t>Technologies used to build AquaSentinel AI</a:t>
            </a:r>
          </a:p>
        </p:txBody>
      </p:sp>
      <p:sp>
        <p:nvSpPr>
          <p:cNvPr id="243" name="💻 Technology Stack"/>
          <p:cNvSpPr txBox="1"/>
          <p:nvPr>
            <p:ph type="title"/>
          </p:nvPr>
        </p:nvSpPr>
        <p:spPr>
          <a:xfrm>
            <a:off x="1206500" y="262562"/>
            <a:ext cx="21971000" cy="1689101"/>
          </a:xfrm>
          <a:prstGeom prst="rect">
            <a:avLst/>
          </a:prstGeom>
        </p:spPr>
        <p:txBody>
          <a:bodyPr/>
          <a:lstStyle/>
          <a:p>
            <a:pPr defTabSz="266700">
              <a:defRPr spc="-90" sz="9000"/>
            </a:pPr>
            <a:r>
              <a:t>💻 </a:t>
            </a:r>
            <a:r>
              <a:t>Technology Stack</a:t>
            </a:r>
          </a:p>
        </p:txBody>
      </p:sp>
      <p:sp>
        <p:nvSpPr>
          <p:cNvPr id="244" name="Line"/>
          <p:cNvSpPr/>
          <p:nvPr/>
        </p:nvSpPr>
        <p:spPr>
          <a:xfrm>
            <a:off x="-1" y="2822575"/>
            <a:ext cx="24384002" cy="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5" name="User"/>
          <p:cNvSpPr txBox="1"/>
          <p:nvPr/>
        </p:nvSpPr>
        <p:spPr>
          <a:xfrm>
            <a:off x="3584523" y="4474752"/>
            <a:ext cx="1201929" cy="75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246" name="n8n AI Workflow"/>
          <p:cNvSpPr txBox="1"/>
          <p:nvPr/>
        </p:nvSpPr>
        <p:spPr>
          <a:xfrm>
            <a:off x="2170505" y="6015661"/>
            <a:ext cx="4029965" cy="75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n8n AI Workflow</a:t>
            </a:r>
          </a:p>
        </p:txBody>
      </p:sp>
      <p:sp>
        <p:nvSpPr>
          <p:cNvPr id="247" name="AI Chat Model"/>
          <p:cNvSpPr txBox="1"/>
          <p:nvPr/>
        </p:nvSpPr>
        <p:spPr>
          <a:xfrm>
            <a:off x="2441523" y="7754761"/>
            <a:ext cx="3487929" cy="75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AI Chat Model</a:t>
            </a:r>
          </a:p>
        </p:txBody>
      </p:sp>
      <p:sp>
        <p:nvSpPr>
          <p:cNvPr id="248" name="AI Response"/>
          <p:cNvSpPr txBox="1"/>
          <p:nvPr/>
        </p:nvSpPr>
        <p:spPr>
          <a:xfrm>
            <a:off x="2656407" y="9430808"/>
            <a:ext cx="3058161" cy="75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AI Response</a:t>
            </a:r>
          </a:p>
        </p:txBody>
      </p:sp>
      <p:sp>
        <p:nvSpPr>
          <p:cNvPr id="249" name="Google Sheets"/>
          <p:cNvSpPr txBox="1"/>
          <p:nvPr/>
        </p:nvSpPr>
        <p:spPr>
          <a:xfrm>
            <a:off x="2420441" y="11062901"/>
            <a:ext cx="3530093" cy="756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Google Sheets</a:t>
            </a:r>
          </a:p>
        </p:txBody>
      </p:sp>
      <p:sp>
        <p:nvSpPr>
          <p:cNvPr id="250" name="Email Confirmation"/>
          <p:cNvSpPr txBox="1"/>
          <p:nvPr/>
        </p:nvSpPr>
        <p:spPr>
          <a:xfrm>
            <a:off x="1834209" y="12515886"/>
            <a:ext cx="4702557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Email Confirmation</a:t>
            </a:r>
          </a:p>
        </p:txBody>
      </p:sp>
      <p:sp>
        <p:nvSpPr>
          <p:cNvPr id="251" name="Line"/>
          <p:cNvSpPr/>
          <p:nvPr/>
        </p:nvSpPr>
        <p:spPr>
          <a:xfrm>
            <a:off x="4185487" y="5258955"/>
            <a:ext cx="1" cy="928456"/>
          </a:xfrm>
          <a:prstGeom prst="line">
            <a:avLst/>
          </a:prstGeom>
          <a:ln w="381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2" name="Line"/>
          <p:cNvSpPr/>
          <p:nvPr/>
        </p:nvSpPr>
        <p:spPr>
          <a:xfrm>
            <a:off x="4185487" y="6931785"/>
            <a:ext cx="1" cy="928457"/>
          </a:xfrm>
          <a:prstGeom prst="line">
            <a:avLst/>
          </a:prstGeom>
          <a:ln w="381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3" name="Line"/>
          <p:cNvSpPr/>
          <p:nvPr/>
        </p:nvSpPr>
        <p:spPr>
          <a:xfrm>
            <a:off x="4185487" y="8611091"/>
            <a:ext cx="1" cy="928456"/>
          </a:xfrm>
          <a:prstGeom prst="line">
            <a:avLst/>
          </a:prstGeom>
          <a:ln w="381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4" name="Line"/>
          <p:cNvSpPr/>
          <p:nvPr/>
        </p:nvSpPr>
        <p:spPr>
          <a:xfrm>
            <a:off x="4185487" y="11792287"/>
            <a:ext cx="1" cy="928457"/>
          </a:xfrm>
          <a:prstGeom prst="line">
            <a:avLst/>
          </a:prstGeom>
          <a:ln w="381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5" name="Line"/>
          <p:cNvSpPr/>
          <p:nvPr/>
        </p:nvSpPr>
        <p:spPr>
          <a:xfrm>
            <a:off x="4185487" y="10290397"/>
            <a:ext cx="1" cy="928456"/>
          </a:xfrm>
          <a:prstGeom prst="line">
            <a:avLst/>
          </a:prstGeom>
          <a:ln w="381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56" name="🤖 n8n…"/>
          <p:cNvSpPr txBox="1"/>
          <p:nvPr/>
        </p:nvSpPr>
        <p:spPr>
          <a:xfrm>
            <a:off x="14170482" y="4451333"/>
            <a:ext cx="3909418" cy="1940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🤖 </a:t>
            </a:r>
            <a:r>
              <a:t>n8n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Workflow Automation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AI Agent Orchestration</a:t>
            </a:r>
          </a:p>
        </p:txBody>
      </p:sp>
      <p:sp>
        <p:nvSpPr>
          <p:cNvPr id="257" name="🧠 Groq /Gemini API…"/>
          <p:cNvSpPr txBox="1"/>
          <p:nvPr/>
        </p:nvSpPr>
        <p:spPr>
          <a:xfrm>
            <a:off x="19299057" y="5562388"/>
            <a:ext cx="3827908" cy="2016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🧠 Groq /Gemini API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Llama 3 Model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Fast AI Responses</a:t>
            </a:r>
          </a:p>
          <a:p>
            <a:pPr defTabSz="457200">
              <a:spcBef>
                <a:spcPts val="1200"/>
              </a:spcBef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258" name="📊 Google Sheets…"/>
          <p:cNvSpPr txBox="1"/>
          <p:nvPr/>
        </p:nvSpPr>
        <p:spPr>
          <a:xfrm>
            <a:off x="14151001" y="7547476"/>
            <a:ext cx="3464918" cy="150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📊 </a:t>
            </a:r>
            <a:r>
              <a:t>Google Sheets</a:t>
            </a:r>
            <a:endParaRPr b="0">
              <a:latin typeface="Graphik Light"/>
              <a:ea typeface="Graphik Light"/>
              <a:cs typeface="Graphik Light"/>
              <a:sym typeface="Graphik Light"/>
            </a:endParaRP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Complaint Database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Logging</a:t>
            </a:r>
          </a:p>
        </p:txBody>
      </p:sp>
      <p:sp>
        <p:nvSpPr>
          <p:cNvPr id="259" name="📧 Gmail…"/>
          <p:cNvSpPr txBox="1"/>
          <p:nvPr/>
        </p:nvSpPr>
        <p:spPr>
          <a:xfrm>
            <a:off x="19288684" y="8578725"/>
            <a:ext cx="4996186" cy="1076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📧 </a:t>
            </a:r>
            <a:r>
              <a:t>Gmail</a:t>
            </a:r>
            <a:endParaRPr b="0">
              <a:latin typeface="Graphik Light"/>
              <a:ea typeface="Graphik Light"/>
              <a:cs typeface="Graphik Light"/>
              <a:sym typeface="Graphik Light"/>
            </a:endParaRP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Automatic Email Confirmation</a:t>
            </a:r>
          </a:p>
        </p:txBody>
      </p:sp>
      <p:sp>
        <p:nvSpPr>
          <p:cNvPr id="260" name="🌐 n8n Chat…"/>
          <p:cNvSpPr txBox="1"/>
          <p:nvPr/>
        </p:nvSpPr>
        <p:spPr>
          <a:xfrm>
            <a:off x="14658998" y="10423567"/>
            <a:ext cx="2932386" cy="150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🌐 </a:t>
            </a:r>
            <a:r>
              <a:t>n8n Chat</a:t>
            </a:r>
            <a:endParaRPr b="0">
              <a:latin typeface="Graphik Light"/>
              <a:ea typeface="Graphik Light"/>
              <a:cs typeface="Graphik Light"/>
              <a:sym typeface="Graphik Light"/>
            </a:endParaRP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User Interaction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Complaint Form</a:t>
            </a:r>
          </a:p>
        </p:txBody>
      </p:sp>
      <p:sp>
        <p:nvSpPr>
          <p:cNvPr id="261" name="📁 GitHub…"/>
          <p:cNvSpPr txBox="1"/>
          <p:nvPr/>
        </p:nvSpPr>
        <p:spPr>
          <a:xfrm>
            <a:off x="19970244" y="11520666"/>
            <a:ext cx="3228257" cy="1508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📁 </a:t>
            </a:r>
            <a:r>
              <a:t>GitHub</a:t>
            </a:r>
            <a:endParaRPr b="0">
              <a:latin typeface="Graphik Light"/>
              <a:ea typeface="Graphik Light"/>
              <a:cs typeface="Graphik Light"/>
              <a:sym typeface="Graphik Light"/>
            </a:endParaRP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Version Control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28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Project Repository</a:t>
            </a:r>
          </a:p>
        </p:txBody>
      </p:sp>
      <p:sp>
        <p:nvSpPr>
          <p:cNvPr id="262" name="Terminator"/>
          <p:cNvSpPr/>
          <p:nvPr/>
        </p:nvSpPr>
        <p:spPr>
          <a:xfrm>
            <a:off x="13773912" y="4250981"/>
            <a:ext cx="4702557" cy="235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1">
              <a:satOff val="-9155"/>
              <a:lumOff val="-32673"/>
              <a:alpha val="3535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63" name="Terminator"/>
          <p:cNvSpPr/>
          <p:nvPr/>
        </p:nvSpPr>
        <p:spPr>
          <a:xfrm>
            <a:off x="19028495" y="5116183"/>
            <a:ext cx="5111755" cy="2555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4">
              <a:alpha val="3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64" name="Terminator"/>
          <p:cNvSpPr/>
          <p:nvPr/>
        </p:nvSpPr>
        <p:spPr>
          <a:xfrm>
            <a:off x="13773912" y="7126058"/>
            <a:ext cx="4702557" cy="235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3">
              <a:satOff val="-6303"/>
              <a:lumOff val="-14839"/>
              <a:alpha val="3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65" name="Terminator"/>
          <p:cNvSpPr/>
          <p:nvPr/>
        </p:nvSpPr>
        <p:spPr>
          <a:xfrm>
            <a:off x="13773912" y="10002149"/>
            <a:ext cx="4702557" cy="235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solidFill>
            <a:schemeClr val="accent6">
              <a:hueOff val="-107064"/>
              <a:satOff val="-5619"/>
              <a:lumOff val="-33440"/>
              <a:alpha val="35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66" name="Terminator"/>
          <p:cNvSpPr/>
          <p:nvPr/>
        </p:nvSpPr>
        <p:spPr>
          <a:xfrm>
            <a:off x="19233094" y="8153967"/>
            <a:ext cx="5107366" cy="25536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2">
              <a:alphaModFix amt="27784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67" name="Terminator"/>
          <p:cNvSpPr/>
          <p:nvPr/>
        </p:nvSpPr>
        <p:spPr>
          <a:xfrm>
            <a:off x="19459281" y="11231449"/>
            <a:ext cx="4250184" cy="21250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400" y="0"/>
                </a:moveTo>
                <a:cubicBezTo>
                  <a:pt x="2418" y="0"/>
                  <a:pt x="0" y="4835"/>
                  <a:pt x="0" y="10800"/>
                </a:cubicBezTo>
                <a:cubicBezTo>
                  <a:pt x="0" y="16765"/>
                  <a:pt x="2418" y="21600"/>
                  <a:pt x="5400" y="21600"/>
                </a:cubicBezTo>
                <a:lnTo>
                  <a:pt x="16200" y="21600"/>
                </a:lnTo>
                <a:cubicBezTo>
                  <a:pt x="19182" y="21600"/>
                  <a:pt x="21600" y="16765"/>
                  <a:pt x="21600" y="10800"/>
                </a:cubicBezTo>
                <a:cubicBezTo>
                  <a:pt x="21600" y="4835"/>
                  <a:pt x="19182" y="0"/>
                  <a:pt x="16200" y="0"/>
                </a:cubicBezTo>
                <a:lnTo>
                  <a:pt x="5400" y="0"/>
                </a:lnTo>
                <a:close/>
              </a:path>
            </a:pathLst>
          </a:custGeom>
          <a:blipFill>
            <a:blip r:embed="rId3">
              <a:alphaModFix amt="33401"/>
            </a:blip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68" name="Core Technologies"/>
          <p:cNvSpPr txBox="1"/>
          <p:nvPr/>
        </p:nvSpPr>
        <p:spPr>
          <a:xfrm>
            <a:off x="16387864" y="2858131"/>
            <a:ext cx="5396638" cy="85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600">
                <a:latin typeface="Produkt Medium"/>
                <a:ea typeface="Produkt Medium"/>
                <a:cs typeface="Produkt Medium"/>
                <a:sym typeface="Produkt Medium"/>
              </a:defRPr>
            </a:lvl1pPr>
          </a:lstStyle>
          <a:p>
            <a:pPr/>
            <a:r>
              <a:t>Core Technologies</a:t>
            </a:r>
          </a:p>
        </p:txBody>
      </p:sp>
      <p:sp>
        <p:nvSpPr>
          <p:cNvPr id="269" name="Rectangle"/>
          <p:cNvSpPr/>
          <p:nvPr/>
        </p:nvSpPr>
        <p:spPr>
          <a:xfrm>
            <a:off x="667144" y="4220088"/>
            <a:ext cx="7036687" cy="9247780"/>
          </a:xfrm>
          <a:prstGeom prst="rect">
            <a:avLst/>
          </a:prstGeom>
          <a:gradFill>
            <a:gsLst>
              <a:gs pos="0">
                <a:schemeClr val="accent6">
                  <a:hueOff val="-107064"/>
                  <a:satOff val="-5619"/>
                  <a:lumOff val="-33440"/>
                  <a:alpha val="15674"/>
                </a:schemeClr>
              </a:gs>
              <a:gs pos="100000">
                <a:schemeClr val="accent5">
                  <a:satOff val="17500"/>
                  <a:lumOff val="10202"/>
                  <a:alpha val="15674"/>
                </a:schemeClr>
              </a:gs>
            </a:gsLst>
            <a:lin ang="5400000"/>
          </a:gradFill>
          <a:ln w="25400">
            <a:solidFill>
              <a:srgbClr val="000000">
                <a:alpha val="15674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70" name="Workflow Pipeline"/>
          <p:cNvSpPr txBox="1"/>
          <p:nvPr/>
        </p:nvSpPr>
        <p:spPr>
          <a:xfrm>
            <a:off x="1583562" y="3114578"/>
            <a:ext cx="5203851" cy="85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600">
                <a:latin typeface="Produkt Medium"/>
                <a:ea typeface="Produkt Medium"/>
                <a:cs typeface="Produkt Medium"/>
                <a:sym typeface="Produkt Medium"/>
              </a:defRPr>
            </a:lvl1pPr>
          </a:lstStyle>
          <a:p>
            <a:pPr/>
            <a:r>
              <a:t>Workflow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Quote Bubble"/>
          <p:cNvSpPr/>
          <p:nvPr/>
        </p:nvSpPr>
        <p:spPr>
          <a:xfrm>
            <a:off x="30079" y="3125372"/>
            <a:ext cx="15709539" cy="4090024"/>
          </a:xfrm>
          <a:prstGeom prst="wedgeEllipseCallout">
            <a:avLst>
              <a:gd name="adj1" fmla="val -42014"/>
              <a:gd name="adj2" fmla="val 60756"/>
            </a:avLst>
          </a:prstGeom>
          <a:solidFill>
            <a:schemeClr val="accent1">
              <a:satOff val="-9155"/>
              <a:lumOff val="-32673"/>
              <a:alpha val="1623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73" name="How AquaSentinel AI Solves a Real User Problem"/>
          <p:cNvSpPr txBox="1"/>
          <p:nvPr>
            <p:ph type="body" idx="21"/>
          </p:nvPr>
        </p:nvSpPr>
        <p:spPr>
          <a:xfrm>
            <a:off x="1206500" y="1935587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975360">
              <a:lnSpc>
                <a:spcPct val="90000"/>
              </a:lnSpc>
              <a:defRPr spc="-39" sz="4000"/>
            </a:lvl1pPr>
          </a:lstStyle>
          <a:p>
            <a:pPr/>
            <a:r>
              <a:t>How AquaSentinel AI Solves a Real User Problem</a:t>
            </a:r>
          </a:p>
        </p:txBody>
      </p:sp>
      <p:sp>
        <p:nvSpPr>
          <p:cNvPr id="274" name="🚀 Live Example"/>
          <p:cNvSpPr txBox="1"/>
          <p:nvPr>
            <p:ph type="title"/>
          </p:nvPr>
        </p:nvSpPr>
        <p:spPr>
          <a:xfrm>
            <a:off x="1206500" y="246487"/>
            <a:ext cx="21971000" cy="1689101"/>
          </a:xfrm>
          <a:prstGeom prst="rect">
            <a:avLst/>
          </a:prstGeom>
        </p:spPr>
        <p:txBody>
          <a:bodyPr/>
          <a:lstStyle>
            <a:lvl1pPr defTabSz="266700">
              <a:defRPr spc="-90" sz="9000"/>
            </a:lvl1pPr>
          </a:lstStyle>
          <a:p>
            <a:pPr/>
            <a:r>
              <a:t>🚀 Live Example</a:t>
            </a:r>
          </a:p>
        </p:txBody>
      </p:sp>
      <p:sp>
        <p:nvSpPr>
          <p:cNvPr id="275" name="Line"/>
          <p:cNvSpPr/>
          <p:nvPr/>
        </p:nvSpPr>
        <p:spPr>
          <a:xfrm>
            <a:off x="-1" y="2822575"/>
            <a:ext cx="24384002" cy="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6" name="👤 User asks…"/>
          <p:cNvSpPr txBox="1"/>
          <p:nvPr/>
        </p:nvSpPr>
        <p:spPr>
          <a:xfrm>
            <a:off x="606959" y="4079660"/>
            <a:ext cx="14947070" cy="2513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👤 User asks</a:t>
            </a:r>
          </a:p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"My tap water is brown and smells like chlorine. My TDS is around 650. Is it safe to drink?</a:t>
            </a:r>
          </a:p>
          <a:p>
            <a:pPr defTabSz="457200">
              <a:spcBef>
                <a:spcPts val="1200"/>
              </a:spcBef>
              <a:defRPr>
                <a:latin typeface="Times Roman"/>
                <a:ea typeface="Times Roman"/>
                <a:cs typeface="Times Roman"/>
                <a:sym typeface="Times Roman"/>
              </a:defRPr>
            </a:pPr>
            <a:r>
              <a:t> Should I buy a purifier? I also want to report this issue."</a:t>
            </a:r>
            <a:endParaRPr b="0"/>
          </a:p>
        </p:txBody>
      </p:sp>
      <p:sp>
        <p:nvSpPr>
          <p:cNvPr id="277" name="🧠 AquaSentinel AI Manager…"/>
          <p:cNvSpPr txBox="1"/>
          <p:nvPr/>
        </p:nvSpPr>
        <p:spPr>
          <a:xfrm>
            <a:off x="17336794" y="5668092"/>
            <a:ext cx="7000749" cy="1916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🧠 AquaSentinel AI Manager</a:t>
            </a:r>
          </a:p>
          <a:p>
            <a:pPr defTabSz="457200">
              <a:spcBef>
                <a:spcPts val="1200"/>
              </a:spcBef>
              <a:defRPr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Detects multiple intents and routes </a:t>
            </a:r>
          </a:p>
          <a:p>
            <a:pPr defTabSz="457200">
              <a:spcBef>
                <a:spcPts val="1200"/>
              </a:spcBef>
              <a:defRPr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request to the correct AI specialists.</a:t>
            </a:r>
          </a:p>
        </p:txBody>
      </p:sp>
      <p:sp>
        <p:nvSpPr>
          <p:cNvPr id="278" name="Line"/>
          <p:cNvSpPr/>
          <p:nvPr/>
        </p:nvSpPr>
        <p:spPr>
          <a:xfrm>
            <a:off x="4269135" y="7500460"/>
            <a:ext cx="12731728" cy="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79" name="Line"/>
          <p:cNvSpPr/>
          <p:nvPr/>
        </p:nvSpPr>
        <p:spPr>
          <a:xfrm>
            <a:off x="15474501" y="4705324"/>
            <a:ext cx="5391406" cy="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0" name="Line"/>
          <p:cNvSpPr/>
          <p:nvPr/>
        </p:nvSpPr>
        <p:spPr>
          <a:xfrm>
            <a:off x="20837168" y="4679924"/>
            <a:ext cx="1" cy="839304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1" name="🛡 Water Safety Advisor…"/>
          <p:cNvSpPr txBox="1"/>
          <p:nvPr/>
        </p:nvSpPr>
        <p:spPr>
          <a:xfrm>
            <a:off x="431351" y="9217331"/>
            <a:ext cx="5661153" cy="2551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🛡 Water Safety Advisor</a:t>
            </a:r>
          </a:p>
          <a:p>
            <a:pPr defTabSz="457200">
              <a:spcBef>
                <a:spcPts val="120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✔ Explains possible causes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120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✔ Suggests immediate precautions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1200"/>
              </a:spcBef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282" name="💧 Purification Advisor…"/>
          <p:cNvSpPr txBox="1"/>
          <p:nvPr/>
        </p:nvSpPr>
        <p:spPr>
          <a:xfrm>
            <a:off x="7112109" y="9217331"/>
            <a:ext cx="5391405" cy="2551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rPr>
                <a:solidFill>
                  <a:srgbClr val="000000"/>
                </a:solidFill>
              </a:rPr>
              <a:t>💧 Purification Advisor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120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✔ Recommends RO purifier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120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>
                <a:solidFill>
                  <a:srgbClr val="000000"/>
                </a:solidFill>
              </a:rPr>
              <a:t>✔ Explains why based on TDS</a:t>
            </a:r>
            <a:endParaRPr>
              <a:solidFill>
                <a:srgbClr val="000000"/>
              </a:solidFill>
            </a:endParaRPr>
          </a:p>
          <a:p>
            <a:pPr defTabSz="457200">
              <a:spcBef>
                <a:spcPts val="1200"/>
              </a:spcBef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283" name="📋 Complaint Advisor…"/>
          <p:cNvSpPr txBox="1"/>
          <p:nvPr/>
        </p:nvSpPr>
        <p:spPr>
          <a:xfrm>
            <a:off x="13523118" y="9236381"/>
            <a:ext cx="5272684" cy="2513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📋 Complaint Advisor</a:t>
            </a:r>
          </a:p>
          <a:p>
            <a:pPr defTabSz="457200">
              <a:spcBef>
                <a:spcPts val="120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✔ Opens complaint form</a:t>
            </a:r>
          </a:p>
          <a:p>
            <a:pPr defTabSz="457200">
              <a:spcBef>
                <a:spcPts val="120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✔ Stores details in Google Sheets</a:t>
            </a:r>
          </a:p>
          <a:p>
            <a:pPr defTabSz="457200">
              <a:spcBef>
                <a:spcPts val="1200"/>
              </a:spcBef>
              <a:defRPr b="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✔ Sends confirmation email</a:t>
            </a:r>
          </a:p>
        </p:txBody>
      </p:sp>
      <p:sp>
        <p:nvSpPr>
          <p:cNvPr id="284" name="Line"/>
          <p:cNvSpPr/>
          <p:nvPr/>
        </p:nvSpPr>
        <p:spPr>
          <a:xfrm>
            <a:off x="15330736" y="7495034"/>
            <a:ext cx="1" cy="191643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5" name="Line"/>
          <p:cNvSpPr/>
          <p:nvPr/>
        </p:nvSpPr>
        <p:spPr>
          <a:xfrm>
            <a:off x="9807811" y="7467278"/>
            <a:ext cx="1" cy="191643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6" name="Line"/>
          <p:cNvSpPr/>
          <p:nvPr/>
        </p:nvSpPr>
        <p:spPr>
          <a:xfrm>
            <a:off x="4284886" y="7495034"/>
            <a:ext cx="1" cy="1916431"/>
          </a:xfrm>
          <a:prstGeom prst="line">
            <a:avLst/>
          </a:prstGeom>
          <a:ln w="50800">
            <a:solidFill>
              <a:schemeClr val="accent1">
                <a:satOff val="-9155"/>
                <a:lumOff val="-3267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7" name="💡 Result…"/>
          <p:cNvSpPr txBox="1"/>
          <p:nvPr/>
        </p:nvSpPr>
        <p:spPr>
          <a:xfrm>
            <a:off x="1032458" y="12165646"/>
            <a:ext cx="22319085" cy="1344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💡 Result</a:t>
            </a:r>
          </a:p>
          <a:p>
            <a:pPr defTabSz="457200">
              <a:spcBef>
                <a:spcPts val="0"/>
              </a:spcBef>
              <a:defRPr b="0" sz="36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user receives safety advice, purifier recommendations, and completes complaint registration in a single conversation.</a:t>
            </a:r>
          </a:p>
        </p:txBody>
      </p:sp>
      <p:sp>
        <p:nvSpPr>
          <p:cNvPr id="288" name="(Multi-Agent Decision)"/>
          <p:cNvSpPr txBox="1"/>
          <p:nvPr/>
        </p:nvSpPr>
        <p:spPr>
          <a:xfrm>
            <a:off x="13101411" y="7017860"/>
            <a:ext cx="3241366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0"/>
              </a:spcBef>
              <a:defRPr b="0" sz="26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(Multi-Agent Decision)</a:t>
            </a:r>
          </a:p>
        </p:txBody>
      </p:sp>
      <p:sp>
        <p:nvSpPr>
          <p:cNvPr id="289" name="Rounded Rectangle"/>
          <p:cNvSpPr/>
          <p:nvPr/>
        </p:nvSpPr>
        <p:spPr>
          <a:xfrm>
            <a:off x="16941869" y="5561946"/>
            <a:ext cx="9447080" cy="2128723"/>
          </a:xfrm>
          <a:prstGeom prst="roundRect">
            <a:avLst>
              <a:gd name="adj" fmla="val 8949"/>
            </a:avLst>
          </a:prstGeom>
          <a:solidFill>
            <a:schemeClr val="accent1">
              <a:satOff val="-9155"/>
              <a:lumOff val="-32673"/>
              <a:alpha val="1600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Class="entr" nodeType="afterEffect" presetSubtype="1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nodeType="clickEffect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Class="entr" nodeType="clickEffect" presetSubtype="1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Class="entr" nodeType="clickEffect" presetSubtype="1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1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Class="entr" nodeType="clickEffect" presetSubtype="8" presetID="2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42" dur="10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7" grpId="2"/>
      <p:bldP build="whole" bldLvl="1" animBg="1" rev="0" advAuto="0" spid="282" grpId="5"/>
      <p:bldP build="whole" bldLvl="1" animBg="1" rev="0" advAuto="0" spid="287" grpId="7"/>
      <p:bldP build="whole" bldLvl="1" animBg="1" rev="0" advAuto="0" spid="288" grpId="3"/>
      <p:bldP build="whole" bldLvl="1" animBg="1" rev="0" advAuto="0" spid="283" grpId="6"/>
      <p:bldP build="whole" bldLvl="1" animBg="1" rev="0" advAuto="0" spid="276" grpId="1"/>
      <p:bldP build="whole" bldLvl="1" animBg="1" rev="0" advAuto="0" spid="281" grpId="4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🚀 What Makes AquaSentinel AI Useful?"/>
          <p:cNvSpPr txBox="1"/>
          <p:nvPr>
            <p:ph type="body" idx="21"/>
          </p:nvPr>
        </p:nvSpPr>
        <p:spPr>
          <a:xfrm>
            <a:off x="1527077" y="1743884"/>
            <a:ext cx="21971001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267967">
              <a:lnSpc>
                <a:spcPct val="90000"/>
              </a:lnSpc>
              <a:defRPr spc="-52" sz="5200"/>
            </a:lvl1pPr>
          </a:lstStyle>
          <a:p>
            <a:pPr/>
            <a:r>
              <a:t>🚀 What Makes AquaSentinel AI Useful?</a:t>
            </a:r>
          </a:p>
        </p:txBody>
      </p:sp>
      <p:sp>
        <p:nvSpPr>
          <p:cNvPr id="292" name="✨ Key Features &amp; Benefits"/>
          <p:cNvSpPr txBox="1"/>
          <p:nvPr>
            <p:ph type="title"/>
          </p:nvPr>
        </p:nvSpPr>
        <p:spPr>
          <a:xfrm>
            <a:off x="1206500" y="186190"/>
            <a:ext cx="21971000" cy="1689101"/>
          </a:xfrm>
          <a:prstGeom prst="rect">
            <a:avLst/>
          </a:prstGeom>
        </p:spPr>
        <p:txBody>
          <a:bodyPr/>
          <a:lstStyle>
            <a:lvl1pPr defTabSz="266700">
              <a:defRPr spc="-90" sz="9000"/>
            </a:lvl1pPr>
          </a:lstStyle>
          <a:p>
            <a:pPr/>
            <a:r>
              <a:t>✨ Key Features &amp; Benefits</a:t>
            </a:r>
          </a:p>
        </p:txBody>
      </p:sp>
      <p:sp>
        <p:nvSpPr>
          <p:cNvPr id="293" name="Line"/>
          <p:cNvSpPr/>
          <p:nvPr/>
        </p:nvSpPr>
        <p:spPr>
          <a:xfrm>
            <a:off x="-1" y="2822575"/>
            <a:ext cx="24384002" cy="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94" name="🛡 Water Safety Analysis…"/>
          <p:cNvSpPr txBox="1"/>
          <p:nvPr/>
        </p:nvSpPr>
        <p:spPr>
          <a:xfrm>
            <a:off x="952238" y="3418739"/>
            <a:ext cx="9472837" cy="3491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🛡 Water Safety Analysis </a:t>
            </a:r>
          </a:p>
          <a:p>
            <a:pPr defTabSz="457200">
              <a:spcBef>
                <a:spcPts val="1200"/>
              </a:spcBef>
              <a:defRPr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  Provides quick guidance on drinking water quality.</a:t>
            </a:r>
            <a:endParaRPr b="0"/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Identifies possible water quality concerns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Suggests immediate safety precautions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Helps users make informed decisions</a:t>
            </a:r>
          </a:p>
        </p:txBody>
      </p:sp>
      <p:sp>
        <p:nvSpPr>
          <p:cNvPr id="295" name="💧 Personalized Purification Guidance…"/>
          <p:cNvSpPr txBox="1"/>
          <p:nvPr/>
        </p:nvSpPr>
        <p:spPr>
          <a:xfrm>
            <a:off x="12297718" y="3333912"/>
            <a:ext cx="11962471" cy="2983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💧 Personalized Purification Guidance</a:t>
            </a:r>
          </a:p>
          <a:p>
            <a:pPr defTabSz="457200">
              <a:spcBef>
                <a:spcPts val="1200"/>
              </a:spcBef>
              <a:defRPr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Recommends the most suitable purifier based on water conditions.</a:t>
            </a:r>
            <a:endParaRPr b="0"/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Uses TDS values for recommendations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Explains RO, UV, and UF technologies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Helps users avoid unnecessary expenses</a:t>
            </a:r>
          </a:p>
        </p:txBody>
      </p:sp>
      <p:sp>
        <p:nvSpPr>
          <p:cNvPr id="296" name="📋 Smart Complaint Registration…"/>
          <p:cNvSpPr txBox="1"/>
          <p:nvPr/>
        </p:nvSpPr>
        <p:spPr>
          <a:xfrm>
            <a:off x="991681" y="6941743"/>
            <a:ext cx="7739889" cy="3491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📋 Smart Complaint Registration</a:t>
            </a:r>
          </a:p>
          <a:p>
            <a:pPr defTabSz="457200">
              <a:spcBef>
                <a:spcPts val="1200"/>
              </a:spcBef>
              <a:defRPr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Simplifies reporting water-related issues.</a:t>
            </a:r>
            <a:endParaRPr b="0"/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Generates complaint forms automatically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Stores records in Google Sheets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Sends instant email confirmation</a:t>
            </a:r>
          </a:p>
        </p:txBody>
      </p:sp>
      <p:sp>
        <p:nvSpPr>
          <p:cNvPr id="297" name="🧠 Intelligent Multi-Agent System…"/>
          <p:cNvSpPr txBox="1"/>
          <p:nvPr/>
        </p:nvSpPr>
        <p:spPr>
          <a:xfrm>
            <a:off x="12317748" y="7195742"/>
            <a:ext cx="8348143" cy="29832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🧠 Intelligent Multi-Agent System</a:t>
            </a:r>
          </a:p>
          <a:p>
            <a:pPr defTabSz="457200">
              <a:spcBef>
                <a:spcPts val="1200"/>
              </a:spcBef>
              <a:defRPr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Routes every request to the right AI specialist.</a:t>
            </a:r>
            <a:endParaRPr b="0"/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Detects user intent automatically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Assigns tasks to dedicated AI advisors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Delivers focused and accurate responses</a:t>
            </a:r>
          </a:p>
        </p:txBody>
      </p:sp>
      <p:sp>
        <p:nvSpPr>
          <p:cNvPr id="298" name="Rectangle"/>
          <p:cNvSpPr/>
          <p:nvPr/>
        </p:nvSpPr>
        <p:spPr>
          <a:xfrm>
            <a:off x="514410" y="3158608"/>
            <a:ext cx="10348493" cy="3371712"/>
          </a:xfrm>
          <a:prstGeom prst="rect">
            <a:avLst/>
          </a:prstGeom>
          <a:gradFill>
            <a:gsLst>
              <a:gs pos="0">
                <a:schemeClr val="accent6">
                  <a:hueOff val="-107064"/>
                  <a:satOff val="-5619"/>
                  <a:lumOff val="-33440"/>
                  <a:alpha val="27148"/>
                </a:schemeClr>
              </a:gs>
              <a:gs pos="100000">
                <a:schemeClr val="accent5">
                  <a:satOff val="17500"/>
                  <a:lumOff val="10202"/>
                  <a:alpha val="27148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299" name="Rectangle"/>
          <p:cNvSpPr/>
          <p:nvPr/>
        </p:nvSpPr>
        <p:spPr>
          <a:xfrm>
            <a:off x="12007359" y="3158608"/>
            <a:ext cx="12058384" cy="3371712"/>
          </a:xfrm>
          <a:prstGeom prst="rect">
            <a:avLst/>
          </a:prstGeom>
          <a:gradFill>
            <a:gsLst>
              <a:gs pos="0">
                <a:schemeClr val="accent6">
                  <a:hueOff val="-107064"/>
                  <a:satOff val="-5619"/>
                  <a:lumOff val="-33440"/>
                  <a:alpha val="27148"/>
                </a:schemeClr>
              </a:gs>
              <a:gs pos="100000">
                <a:schemeClr val="accent5">
                  <a:satOff val="17500"/>
                  <a:lumOff val="10202"/>
                  <a:alpha val="27148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00" name="Rectangle"/>
          <p:cNvSpPr/>
          <p:nvPr/>
        </p:nvSpPr>
        <p:spPr>
          <a:xfrm>
            <a:off x="11950264" y="7001502"/>
            <a:ext cx="10858747" cy="3371712"/>
          </a:xfrm>
          <a:prstGeom prst="rect">
            <a:avLst/>
          </a:prstGeom>
          <a:gradFill>
            <a:gsLst>
              <a:gs pos="0">
                <a:schemeClr val="accent6">
                  <a:hueOff val="-107064"/>
                  <a:satOff val="-5619"/>
                  <a:lumOff val="-33440"/>
                  <a:alpha val="27148"/>
                </a:schemeClr>
              </a:gs>
              <a:gs pos="100000">
                <a:schemeClr val="accent5">
                  <a:satOff val="17500"/>
                  <a:lumOff val="10202"/>
                  <a:alpha val="27148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01" name="Rectangle"/>
          <p:cNvSpPr/>
          <p:nvPr/>
        </p:nvSpPr>
        <p:spPr>
          <a:xfrm>
            <a:off x="514410" y="6941742"/>
            <a:ext cx="10348493" cy="3371712"/>
          </a:xfrm>
          <a:prstGeom prst="rect">
            <a:avLst/>
          </a:prstGeom>
          <a:gradFill>
            <a:gsLst>
              <a:gs pos="0">
                <a:schemeClr val="accent6">
                  <a:hueOff val="-107064"/>
                  <a:satOff val="-5619"/>
                  <a:lumOff val="-33440"/>
                  <a:alpha val="27148"/>
                </a:schemeClr>
              </a:gs>
              <a:gs pos="100000">
                <a:schemeClr val="accent5">
                  <a:satOff val="17500"/>
                  <a:lumOff val="10202"/>
                  <a:alpha val="27148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02" name="🌍 Real-World Impact"/>
          <p:cNvSpPr txBox="1"/>
          <p:nvPr/>
        </p:nvSpPr>
        <p:spPr>
          <a:xfrm>
            <a:off x="8736795" y="11057573"/>
            <a:ext cx="5251197" cy="793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lvl1pPr>
          </a:lstStyle>
          <a:p>
            <a:pPr/>
            <a:r>
              <a:t>🌍 Real-World Impact</a:t>
            </a:r>
          </a:p>
        </p:txBody>
      </p:sp>
      <p:sp>
        <p:nvSpPr>
          <p:cNvPr id="303" name="✔ Makes water-related information easier to access"/>
          <p:cNvSpPr txBox="1"/>
          <p:nvPr/>
        </p:nvSpPr>
        <p:spPr>
          <a:xfrm>
            <a:off x="312080" y="12008956"/>
            <a:ext cx="85068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0"/>
              </a:spcBef>
              <a:defRPr b="0" sz="3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✔ Makes water-related information easier to access</a:t>
            </a:r>
          </a:p>
        </p:txBody>
      </p:sp>
      <p:sp>
        <p:nvSpPr>
          <p:cNvPr id="304" name="✔ Reduces confusion by combining multiple services into one platform"/>
          <p:cNvSpPr txBox="1"/>
          <p:nvPr/>
        </p:nvSpPr>
        <p:spPr>
          <a:xfrm>
            <a:off x="10875805" y="12729925"/>
            <a:ext cx="11778655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0"/>
              </a:spcBef>
              <a:defRPr b="0" sz="3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✔ Reduces confusion by combining multiple services into one platform</a:t>
            </a:r>
          </a:p>
        </p:txBody>
      </p:sp>
      <p:sp>
        <p:nvSpPr>
          <p:cNvPr id="305" name="✔ Designed for future expansion with regional languages and voice interaction"/>
          <p:cNvSpPr txBox="1"/>
          <p:nvPr/>
        </p:nvSpPr>
        <p:spPr>
          <a:xfrm>
            <a:off x="10887258" y="12008956"/>
            <a:ext cx="12984759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1200"/>
              </a:spcBef>
              <a:defRPr b="0" sz="3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✔ Designed for future expansion with regional languages and voice interaction</a:t>
            </a:r>
          </a:p>
        </p:txBody>
      </p:sp>
      <p:sp>
        <p:nvSpPr>
          <p:cNvPr id="306" name="✔ Encourages safe water practices and public awareness"/>
          <p:cNvSpPr txBox="1"/>
          <p:nvPr/>
        </p:nvSpPr>
        <p:spPr>
          <a:xfrm>
            <a:off x="192490" y="12729925"/>
            <a:ext cx="9338271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spcBef>
                <a:spcPts val="1200"/>
              </a:spcBef>
              <a:defRPr b="0" sz="3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✔ Encourages safe water practices and public awareness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Subtype="8" presetID="2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clickEffect" presetSubtype="8" presetID="2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Class="entr" nodeType="clickEffect" presetSubtype="8" presetID="2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Subtype="8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2" grpId="5"/>
      <p:bldP build="whole" bldLvl="1" animBg="1" rev="0" advAuto="0" spid="294" grpId="1"/>
      <p:bldP build="whole" bldLvl="1" animBg="1" rev="0" advAuto="0" spid="295" grpId="2"/>
      <p:bldP build="whole" bldLvl="1" animBg="1" rev="0" advAuto="0" spid="304" grpId="9"/>
      <p:bldP build="whole" bldLvl="1" animBg="1" rev="0" advAuto="0" spid="305" grpId="7"/>
      <p:bldP build="whole" bldLvl="1" animBg="1" rev="0" advAuto="0" spid="297" grpId="4"/>
      <p:bldP build="whole" bldLvl="1" animBg="1" rev="0" advAuto="0" spid="306" grpId="8"/>
      <p:bldP build="whole" bldLvl="1" animBg="1" rev="0" advAuto="0" spid="303" grpId="6"/>
      <p:bldP build="whole" bldLvl="1" animBg="1" rev="0" advAuto="0" spid="296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Future enhancements to make water assistance smarter and more accessible."/>
          <p:cNvSpPr txBox="1"/>
          <p:nvPr>
            <p:ph type="body" idx="21"/>
          </p:nvPr>
        </p:nvSpPr>
        <p:spPr>
          <a:xfrm>
            <a:off x="1206500" y="1692451"/>
            <a:ext cx="21971000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194816">
              <a:lnSpc>
                <a:spcPct val="90000"/>
              </a:lnSpc>
              <a:defRPr spc="-48" sz="4900"/>
            </a:lvl1pPr>
          </a:lstStyle>
          <a:p>
            <a:pPr/>
            <a:r>
              <a:t>Future enhancements to make water assistance smarter and more accessible.</a:t>
            </a:r>
          </a:p>
        </p:txBody>
      </p:sp>
      <p:sp>
        <p:nvSpPr>
          <p:cNvPr id="309" name="🚀 Future Scope"/>
          <p:cNvSpPr txBox="1"/>
          <p:nvPr>
            <p:ph type="title"/>
          </p:nvPr>
        </p:nvSpPr>
        <p:spPr>
          <a:xfrm>
            <a:off x="1206500" y="28617"/>
            <a:ext cx="21971000" cy="1689101"/>
          </a:xfrm>
          <a:prstGeom prst="rect">
            <a:avLst/>
          </a:prstGeom>
        </p:spPr>
        <p:txBody>
          <a:bodyPr/>
          <a:lstStyle>
            <a:lvl1pPr defTabSz="266700">
              <a:defRPr spc="-90" sz="9000"/>
            </a:lvl1pPr>
          </a:lstStyle>
          <a:p>
            <a:pPr/>
            <a:r>
              <a:t>🚀 Future Scope</a:t>
            </a:r>
          </a:p>
        </p:txBody>
      </p:sp>
      <p:sp>
        <p:nvSpPr>
          <p:cNvPr id="310" name="Line"/>
          <p:cNvSpPr/>
          <p:nvPr/>
        </p:nvSpPr>
        <p:spPr>
          <a:xfrm>
            <a:off x="-1" y="2822575"/>
            <a:ext cx="24384002" cy="0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11" name="🌐 Regional Language Support…"/>
          <p:cNvSpPr txBox="1"/>
          <p:nvPr/>
        </p:nvSpPr>
        <p:spPr>
          <a:xfrm>
            <a:off x="1558086" y="4381448"/>
            <a:ext cx="9915359" cy="2246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🌐 Regional Language Support</a:t>
            </a:r>
          </a:p>
          <a:p>
            <a:pPr marL="365759" indent="-365759" defTabSz="457200">
              <a:spcBef>
                <a:spcPts val="0"/>
              </a:spcBef>
              <a:buSzPct val="100000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 Marathi, Hindi, Tamil and other Indian languages</a:t>
            </a:r>
          </a:p>
          <a:p>
            <a:pPr marL="365759" indent="-365759" defTabSz="457200">
              <a:spcBef>
                <a:spcPts val="0"/>
              </a:spcBef>
              <a:buSzPct val="100000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Make the platform accessible to more citizens</a:t>
            </a:r>
          </a:p>
        </p:txBody>
      </p:sp>
      <p:sp>
        <p:nvSpPr>
          <p:cNvPr id="312" name="🎙 Voice-Based Interaction…"/>
          <p:cNvSpPr txBox="1"/>
          <p:nvPr/>
        </p:nvSpPr>
        <p:spPr>
          <a:xfrm>
            <a:off x="14463445" y="4622748"/>
            <a:ext cx="7184431" cy="1764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🎙 Voice-Based Interaction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Allow users to speak instead of typing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Helpful for elderly and less literate users</a:t>
            </a:r>
          </a:p>
        </p:txBody>
      </p:sp>
      <p:sp>
        <p:nvSpPr>
          <p:cNvPr id="313" name="📍 GPS-Based Complaint Registration…"/>
          <p:cNvSpPr txBox="1"/>
          <p:nvPr/>
        </p:nvSpPr>
        <p:spPr>
          <a:xfrm>
            <a:off x="1632647" y="8033324"/>
            <a:ext cx="9167877" cy="2246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📍 GPS-Based Complaint Registration</a:t>
            </a:r>
          </a:p>
          <a:p>
            <a:pPr marL="365759" indent="-365759" defTabSz="457200">
              <a:spcBef>
                <a:spcPts val="0"/>
              </a:spcBef>
              <a:buSzPct val="100000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Automatically capture user location</a:t>
            </a:r>
          </a:p>
          <a:p>
            <a:pPr marL="365759" indent="-365759" defTabSz="457200">
              <a:spcBef>
                <a:spcPts val="0"/>
              </a:spcBef>
              <a:buSzPct val="100000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Speed up issue reporting to local authorities</a:t>
            </a:r>
          </a:p>
        </p:txBody>
      </p:sp>
      <p:sp>
        <p:nvSpPr>
          <p:cNvPr id="314" name="📊 Smart Water Analytics…"/>
          <p:cNvSpPr txBox="1"/>
          <p:nvPr/>
        </p:nvSpPr>
        <p:spPr>
          <a:xfrm>
            <a:off x="14299409" y="7962861"/>
            <a:ext cx="6709609" cy="2246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40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📊 Smart Water Analytics</a:t>
            </a:r>
          </a:p>
          <a:p>
            <a:pPr marL="365759" indent="-365759" defTabSz="457200">
              <a:spcBef>
                <a:spcPts val="0"/>
              </a:spcBef>
              <a:buSzPct val="100000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Analyze complaint trends</a:t>
            </a:r>
          </a:p>
          <a:p>
            <a:pPr marL="365759" indent="-365759" defTabSz="457200">
              <a:spcBef>
                <a:spcPts val="0"/>
              </a:spcBef>
              <a:buSzPct val="100000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Identify high-risk areas</a:t>
            </a:r>
          </a:p>
          <a:p>
            <a:pPr marL="365759" indent="-365759" defTabSz="457200">
              <a:spcBef>
                <a:spcPts val="0"/>
              </a:spcBef>
              <a:buSzPct val="100000"/>
              <a:buChar char="•"/>
              <a:defRPr b="0"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Help authorities make better decisions</a:t>
            </a:r>
          </a:p>
        </p:txBody>
      </p:sp>
      <p:sp>
        <p:nvSpPr>
          <p:cNvPr id="315" name="Rectangle"/>
          <p:cNvSpPr/>
          <p:nvPr/>
        </p:nvSpPr>
        <p:spPr>
          <a:xfrm>
            <a:off x="1252511" y="4240521"/>
            <a:ext cx="10526508" cy="2387558"/>
          </a:xfrm>
          <a:prstGeom prst="rect">
            <a:avLst/>
          </a:prstGeom>
          <a:gradFill>
            <a:gsLst>
              <a:gs pos="0">
                <a:schemeClr val="accent3">
                  <a:satOff val="1412"/>
                  <a:lumOff val="16412"/>
                  <a:alpha val="25489"/>
                </a:schemeClr>
              </a:gs>
              <a:gs pos="100000">
                <a:schemeClr val="accent3">
                  <a:hueOff val="30975"/>
                  <a:satOff val="1110"/>
                  <a:lumOff val="-29197"/>
                  <a:alpha val="25489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16" name="Rectangle"/>
          <p:cNvSpPr/>
          <p:nvPr/>
        </p:nvSpPr>
        <p:spPr>
          <a:xfrm>
            <a:off x="1252511" y="7892397"/>
            <a:ext cx="10526508" cy="2387558"/>
          </a:xfrm>
          <a:prstGeom prst="rect">
            <a:avLst/>
          </a:prstGeom>
          <a:gradFill>
            <a:gsLst>
              <a:gs pos="0">
                <a:schemeClr val="accent3">
                  <a:satOff val="1412"/>
                  <a:lumOff val="16412"/>
                  <a:alpha val="25489"/>
                </a:schemeClr>
              </a:gs>
              <a:gs pos="100000">
                <a:schemeClr val="accent3">
                  <a:hueOff val="30975"/>
                  <a:satOff val="1110"/>
                  <a:lumOff val="-29197"/>
                  <a:alpha val="25489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17" name="Rectangle"/>
          <p:cNvSpPr/>
          <p:nvPr/>
        </p:nvSpPr>
        <p:spPr>
          <a:xfrm>
            <a:off x="13582953" y="4240521"/>
            <a:ext cx="8945414" cy="2387558"/>
          </a:xfrm>
          <a:prstGeom prst="rect">
            <a:avLst/>
          </a:prstGeom>
          <a:gradFill>
            <a:gsLst>
              <a:gs pos="0">
                <a:schemeClr val="accent3">
                  <a:satOff val="1412"/>
                  <a:lumOff val="16412"/>
                  <a:alpha val="25489"/>
                </a:schemeClr>
              </a:gs>
              <a:gs pos="100000">
                <a:schemeClr val="accent3">
                  <a:hueOff val="30975"/>
                  <a:satOff val="1110"/>
                  <a:lumOff val="-29197"/>
                  <a:alpha val="25489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18" name="Rectangle"/>
          <p:cNvSpPr/>
          <p:nvPr/>
        </p:nvSpPr>
        <p:spPr>
          <a:xfrm>
            <a:off x="13582953" y="7741295"/>
            <a:ext cx="8945414" cy="2689763"/>
          </a:xfrm>
          <a:prstGeom prst="rect">
            <a:avLst/>
          </a:prstGeom>
          <a:gradFill>
            <a:gsLst>
              <a:gs pos="0">
                <a:schemeClr val="accent3">
                  <a:satOff val="1412"/>
                  <a:lumOff val="16412"/>
                  <a:alpha val="25489"/>
                </a:schemeClr>
              </a:gs>
              <a:gs pos="100000">
                <a:schemeClr val="accent3">
                  <a:hueOff val="30975"/>
                  <a:satOff val="1110"/>
                  <a:lumOff val="-29197"/>
                  <a:alpha val="25489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  <p:sp>
        <p:nvSpPr>
          <p:cNvPr id="319" name="🌱 Long-Term Vision…"/>
          <p:cNvSpPr txBox="1"/>
          <p:nvPr/>
        </p:nvSpPr>
        <p:spPr>
          <a:xfrm>
            <a:off x="2182536" y="11229917"/>
            <a:ext cx="20018928" cy="2046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spcBef>
                <a:spcPts val="0"/>
              </a:spcBef>
              <a:defRPr b="0" sz="430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🌱 Long-Term Vision</a:t>
            </a:r>
          </a:p>
          <a:p>
            <a:pPr defTabSz="457200">
              <a:spcBef>
                <a:spcPts val="0"/>
              </a:spcBef>
              <a:defRPr b="0" sz="3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Our vision is to develop AquaSentinel AI into a smart public assistant that helps citizens access safe </a:t>
            </a:r>
          </a:p>
          <a:p>
            <a:pPr defTabSz="457200">
              <a:spcBef>
                <a:spcPts val="0"/>
              </a:spcBef>
              <a:defRPr b="0" sz="39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water information, report issues efficiently, and supports authorities with better decision-making.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8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8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Subtype="8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Subtype="8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19" grpId="5"/>
      <p:bldP build="whole" bldLvl="1" animBg="1" rev="0" advAuto="0" spid="314" grpId="4"/>
      <p:bldP build="whole" bldLvl="1" animBg="1" rev="0" advAuto="0" spid="311" grpId="1"/>
      <p:bldP build="whole" bldLvl="1" animBg="1" rev="0" advAuto="0" spid="313" grpId="3"/>
      <p:bldP build="whole" bldLvl="1" animBg="1" rev="0" advAuto="0" spid="312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⭐️ Conclusion &amp; Thank You"/>
          <p:cNvSpPr txBox="1"/>
          <p:nvPr>
            <p:ph type="body" idx="21"/>
          </p:nvPr>
        </p:nvSpPr>
        <p:spPr>
          <a:xfrm>
            <a:off x="322192" y="176496"/>
            <a:ext cx="21971001" cy="1003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975360">
              <a:lnSpc>
                <a:spcPct val="90000"/>
              </a:lnSpc>
              <a:defRPr spc="-52" sz="5200"/>
            </a:pPr>
            <a:r>
              <a:t>⭐️ Conclusion &amp; Thank You</a:t>
            </a:r>
          </a:p>
          <a:p>
            <a:pPr defTabSz="182880">
              <a:spcBef>
                <a:spcPts val="500"/>
              </a:spcBef>
              <a:defRPr b="1" sz="72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322" name="Line"/>
          <p:cNvSpPr/>
          <p:nvPr/>
        </p:nvSpPr>
        <p:spPr>
          <a:xfrm>
            <a:off x="-1" y="2115799"/>
            <a:ext cx="24384002" cy="1"/>
          </a:xfrm>
          <a:prstGeom prst="line">
            <a:avLst/>
          </a:prstGeom>
          <a:ln w="25400">
            <a:solidFill>
              <a:schemeClr val="accent1">
                <a:satOff val="-9155"/>
                <a:lumOff val="-3267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3" name="AquaSentinel AI – Smarter Water Assistance Through Multi-Agent AI"/>
          <p:cNvSpPr txBox="1"/>
          <p:nvPr/>
        </p:nvSpPr>
        <p:spPr>
          <a:xfrm>
            <a:off x="443801" y="1154092"/>
            <a:ext cx="22126131" cy="1923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AquaSentinel AI – Smarter Water Assistance Through Multi-Agent AI</a:t>
            </a:r>
          </a:p>
        </p:txBody>
      </p:sp>
      <p:sp>
        <p:nvSpPr>
          <p:cNvPr id="324" name="🎯 Project Summary…"/>
          <p:cNvSpPr txBox="1"/>
          <p:nvPr/>
        </p:nvSpPr>
        <p:spPr>
          <a:xfrm>
            <a:off x="340722" y="2958298"/>
            <a:ext cx="15546724" cy="3576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5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🎯 Project Summary</a:t>
            </a:r>
          </a:p>
          <a:p>
            <a:pPr defTabSz="457200">
              <a:spcBef>
                <a:spcPts val="1200"/>
              </a:spcBef>
              <a:defRPr b="0"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AquaSentinel AI combines specialized AI agents to provide reliable water guidance, </a:t>
            </a:r>
          </a:p>
          <a:p>
            <a:pPr defTabSz="457200">
              <a:spcBef>
                <a:spcPts val="1200"/>
              </a:spcBef>
              <a:defRPr b="0"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purifier recommendations, water conservation tips, and automated complaint registration </a:t>
            </a:r>
          </a:p>
          <a:p>
            <a:pPr defTabSz="457200">
              <a:spcBef>
                <a:spcPts val="1200"/>
              </a:spcBef>
              <a:defRPr b="0"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through a single intelligent platform.</a:t>
            </a:r>
          </a:p>
        </p:txBody>
      </p:sp>
      <p:sp>
        <p:nvSpPr>
          <p:cNvPr id="325" name="🌍 Why It Matters…"/>
          <p:cNvSpPr txBox="1"/>
          <p:nvPr/>
        </p:nvSpPr>
        <p:spPr>
          <a:xfrm>
            <a:off x="331934" y="6358109"/>
            <a:ext cx="14312777" cy="3627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5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🌍 Why It Matters</a:t>
            </a:r>
          </a:p>
          <a:p>
            <a:pPr marL="1039283" indent="-899583" defTabSz="457200">
              <a:spcBef>
                <a:spcPts val="0"/>
              </a:spcBef>
              <a:buSzPct val="100000"/>
              <a:buFont typeface="Times Roman"/>
              <a:buChar char="•"/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3400"/>
              <a:t>💧 Promotes safe water awareness</a:t>
            </a:r>
            <a:endParaRPr sz="3400"/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🤖 Makes water-related assistance simple and accessible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📋 Simplifies complaint reporting through automation</a:t>
            </a:r>
          </a:p>
          <a:p>
            <a:pPr marL="457200" indent="-317500" defTabSz="457200">
              <a:spcBef>
                <a:spcPts val="0"/>
              </a:spcBef>
              <a:buSzPct val="100000"/>
              <a:buFont typeface="Times Roman"/>
              <a:buChar char="•"/>
              <a:defRPr b="0" sz="3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🌱 Designed for future expansion with regional languages and voice interaction</a:t>
            </a:r>
          </a:p>
          <a:p>
            <a:pPr marL="457200" indent="-457200" defTabSz="457200">
              <a:spcBef>
                <a:spcPts val="0"/>
              </a:spcBef>
              <a:tabLst>
                <a:tab pos="139700" algn="l"/>
                <a:tab pos="457200" algn="l"/>
              </a:tabLst>
              <a:defRPr b="0"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sp>
        <p:nvSpPr>
          <p:cNvPr id="326" name="📂 Project Resources…"/>
          <p:cNvSpPr txBox="1"/>
          <p:nvPr/>
        </p:nvSpPr>
        <p:spPr>
          <a:xfrm>
            <a:off x="353559" y="10137711"/>
            <a:ext cx="9222582" cy="2738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 sz="5000">
                <a:latin typeface="Produkt Light"/>
                <a:ea typeface="Produkt Light"/>
                <a:cs typeface="Produkt Light"/>
                <a:sym typeface="Produkt Light"/>
              </a:defRPr>
            </a:pPr>
            <a:r>
              <a:t>📂 Project Resources</a:t>
            </a:r>
          </a:p>
          <a:p>
            <a:pPr defTabSz="457200">
              <a:spcBef>
                <a:spcPts val="1200"/>
              </a:spcBef>
              <a:defRPr sz="3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GitHub Repository</a:t>
            </a:r>
          </a:p>
          <a:p>
            <a:pPr defTabSz="457200">
              <a:spcBef>
                <a:spcPts val="1200"/>
              </a:spcBef>
              <a:defRPr b="0" sz="3200">
                <a:solidFill>
                  <a:srgbClr val="080704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https://github.com/prathamdesh07-afk/AquaSentinel-AI</a:t>
            </a:r>
          </a:p>
        </p:txBody>
      </p:sp>
      <p:sp>
        <p:nvSpPr>
          <p:cNvPr id="327" name="Thank you for your time! We welcome your questions and feedback."/>
          <p:cNvSpPr txBox="1"/>
          <p:nvPr/>
        </p:nvSpPr>
        <p:spPr>
          <a:xfrm>
            <a:off x="2203767" y="12682489"/>
            <a:ext cx="19976466" cy="933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0" sz="50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Thank you for your time! We welcome your questions and feedback.</a:t>
            </a:r>
          </a:p>
        </p:txBody>
      </p:sp>
      <p:pic>
        <p:nvPicPr>
          <p:cNvPr id="328" name="AquaSential By Pratham.png" descr="AquaSential By Prath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998199" y="4260293"/>
            <a:ext cx="5195413" cy="5195414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📱 Scan to view source code…"/>
          <p:cNvSpPr txBox="1"/>
          <p:nvPr/>
        </p:nvSpPr>
        <p:spPr>
          <a:xfrm>
            <a:off x="17959613" y="9432968"/>
            <a:ext cx="5272660" cy="111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825500">
              <a:spcBef>
                <a:spcPts val="0"/>
              </a:spcBef>
              <a:defRPr b="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📱 Scan to view source code </a:t>
            </a:r>
          </a:p>
          <a:p>
            <a:pPr defTabSz="825500">
              <a:spcBef>
                <a:spcPts val="0"/>
              </a:spcBef>
              <a:defRPr b="0">
                <a:latin typeface="Produkt Medium"/>
                <a:ea typeface="Produkt Medium"/>
                <a:cs typeface="Produkt Medium"/>
                <a:sym typeface="Produkt Medium"/>
              </a:defRPr>
            </a:pPr>
            <a:r>
              <a:t>           &amp; documentation</a:t>
            </a:r>
          </a:p>
        </p:txBody>
      </p:sp>
      <p:sp>
        <p:nvSpPr>
          <p:cNvPr id="330" name="Oval"/>
          <p:cNvSpPr/>
          <p:nvPr/>
        </p:nvSpPr>
        <p:spPr>
          <a:xfrm>
            <a:off x="16474493" y="3305040"/>
            <a:ext cx="8242903" cy="7994934"/>
          </a:xfrm>
          <a:prstGeom prst="ellipse">
            <a:avLst/>
          </a:prstGeom>
          <a:solidFill>
            <a:schemeClr val="accent2">
              <a:hueOff val="-357243"/>
              <a:satOff val="7293"/>
              <a:lumOff val="8906"/>
              <a:alpha val="19082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b="0" sz="3200">
                <a:solidFill>
                  <a:srgbClr val="FFFFFF"/>
                </a:solidFill>
                <a:latin typeface="Graphik Light"/>
                <a:ea typeface="Graphik Light"/>
                <a:cs typeface="Graphik Light"/>
                <a:sym typeface="Graphik Light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53585F"/>
      </a:dk1>
      <a:lt1>
        <a:srgbClr val="5F3E0C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6_DynamicWavesLight">
  <a:themeElements>
    <a:clrScheme name="36_DynamicWaves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6_DynamicWaves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6_DynamicWaves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1" baseline="0" cap="none" i="0" spc="0" strike="noStrike" sz="3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